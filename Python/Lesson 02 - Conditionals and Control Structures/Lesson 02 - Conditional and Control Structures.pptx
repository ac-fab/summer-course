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44"/>
  </p:notesMasterIdLst>
  <p:sldIdLst>
    <p:sldId id="256" r:id="rId2"/>
    <p:sldId id="310" r:id="rId3"/>
    <p:sldId id="311" r:id="rId4"/>
    <p:sldId id="283" r:id="rId5"/>
    <p:sldId id="289" r:id="rId6"/>
    <p:sldId id="290" r:id="rId7"/>
    <p:sldId id="291" r:id="rId8"/>
    <p:sldId id="292" r:id="rId9"/>
    <p:sldId id="281" r:id="rId10"/>
    <p:sldId id="258" r:id="rId11"/>
    <p:sldId id="293" r:id="rId12"/>
    <p:sldId id="298" r:id="rId13"/>
    <p:sldId id="259" r:id="rId14"/>
    <p:sldId id="260" r:id="rId15"/>
    <p:sldId id="261" r:id="rId16"/>
    <p:sldId id="299" r:id="rId17"/>
    <p:sldId id="300" r:id="rId18"/>
    <p:sldId id="262" r:id="rId19"/>
    <p:sldId id="264" r:id="rId20"/>
    <p:sldId id="286" r:id="rId21"/>
    <p:sldId id="301" r:id="rId22"/>
    <p:sldId id="302" r:id="rId23"/>
    <p:sldId id="303" r:id="rId24"/>
    <p:sldId id="285" r:id="rId25"/>
    <p:sldId id="294" r:id="rId26"/>
    <p:sldId id="296" r:id="rId27"/>
    <p:sldId id="295" r:id="rId28"/>
    <p:sldId id="304" r:id="rId29"/>
    <p:sldId id="305" r:id="rId30"/>
    <p:sldId id="266" r:id="rId31"/>
    <p:sldId id="306" r:id="rId32"/>
    <p:sldId id="265" r:id="rId33"/>
    <p:sldId id="267" r:id="rId34"/>
    <p:sldId id="307" r:id="rId35"/>
    <p:sldId id="268" r:id="rId36"/>
    <p:sldId id="282" r:id="rId37"/>
    <p:sldId id="269" r:id="rId38"/>
    <p:sldId id="308" r:id="rId39"/>
    <p:sldId id="309" r:id="rId40"/>
    <p:sldId id="270" r:id="rId41"/>
    <p:sldId id="287" r:id="rId42"/>
    <p:sldId id="288" r:id="rId43"/>
  </p:sldIdLst>
  <p:sldSz cx="9144000" cy="5143500" type="screen16x9"/>
  <p:notesSz cx="6858000" cy="9144000"/>
  <p:embeddedFontLst>
    <p:embeddedFont>
      <p:font typeface="Consolas" panose="020B0609020204030204" pitchFamily="49" charset="0"/>
      <p:regular r:id="rId45"/>
      <p:bold r:id="rId46"/>
      <p:italic r:id="rId47"/>
      <p:boldItalic r:id="rId48"/>
    </p:embeddedFont>
    <p:embeddedFont>
      <p:font typeface="Roboto"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38" autoAdjust="0"/>
  </p:normalViewPr>
  <p:slideViewPr>
    <p:cSldViewPr snapToGrid="0">
      <p:cViewPr varScale="1">
        <p:scale>
          <a:sx n="129" d="100"/>
          <a:sy n="129" d="100"/>
        </p:scale>
        <p:origin x="110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3140630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25130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AE6A6807-85D8-512A-849F-30B71141A68B}"/>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CA5DA4C0-11CB-2963-EC43-DF2315E9D2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1AF01A80-57BD-8270-C1C2-10A5824470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4552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B310F38A-2B72-E9E1-E76F-38AE31DE6A3D}"/>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22C4DB73-4FED-CFAC-01AC-85D8DA0C77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D9D72380-7DEA-1C92-1A55-1B37F3078E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48325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DF454B19-9D10-6C09-823F-959B7E837FAC}"/>
            </a:ext>
          </a:extLst>
        </p:cNvPr>
        <p:cNvGrpSpPr/>
        <p:nvPr/>
      </p:nvGrpSpPr>
      <p:grpSpPr>
        <a:xfrm>
          <a:off x="0" y="0"/>
          <a:ext cx="0" cy="0"/>
          <a:chOff x="0" y="0"/>
          <a:chExt cx="0" cy="0"/>
        </a:xfrm>
      </p:grpSpPr>
      <p:sp>
        <p:nvSpPr>
          <p:cNvPr id="402" name="Google Shape;402;p6:notes">
            <a:extLst>
              <a:ext uri="{FF2B5EF4-FFF2-40B4-BE49-F238E27FC236}">
                <a16:creationId xmlns:a16="http://schemas.microsoft.com/office/drawing/2014/main" id="{8CFC4D94-9FBA-3E49-81C5-E94335D3D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a:extLst>
              <a:ext uri="{FF2B5EF4-FFF2-40B4-BE49-F238E27FC236}">
                <a16:creationId xmlns:a16="http://schemas.microsoft.com/office/drawing/2014/main" id="{AB6F3F24-B86F-D659-0C34-255F34554F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0715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602050E9-9031-261F-D842-4461E7DEF008}"/>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6F5BD6A7-3106-851F-AF6F-96104204B2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A84867ED-A818-DDAE-1FA8-E9EC928356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16429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3FFFE89-EFFC-E984-E066-08F7FFFE2CD4}"/>
            </a:ext>
          </a:extLst>
        </p:cNvPr>
        <p:cNvGrpSpPr/>
        <p:nvPr/>
      </p:nvGrpSpPr>
      <p:grpSpPr>
        <a:xfrm>
          <a:off x="0" y="0"/>
          <a:ext cx="0" cy="0"/>
          <a:chOff x="0" y="0"/>
          <a:chExt cx="0" cy="0"/>
        </a:xfrm>
      </p:grpSpPr>
      <p:sp>
        <p:nvSpPr>
          <p:cNvPr id="420" name="Google Shape;420;p9:notes">
            <a:extLst>
              <a:ext uri="{FF2B5EF4-FFF2-40B4-BE49-F238E27FC236}">
                <a16:creationId xmlns:a16="http://schemas.microsoft.com/office/drawing/2014/main" id="{0494CCD6-A07C-EA0A-2043-DFEC8BEB7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a:extLst>
              <a:ext uri="{FF2B5EF4-FFF2-40B4-BE49-F238E27FC236}">
                <a16:creationId xmlns:a16="http://schemas.microsoft.com/office/drawing/2014/main" id="{5CD425C0-B952-1C04-3044-9D35AF4B63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extLst>
      <p:ext uri="{BB962C8B-B14F-4D97-AF65-F5344CB8AC3E}">
        <p14:creationId xmlns:p14="http://schemas.microsoft.com/office/powerpoint/2010/main" val="3996537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C15D-484F-B458-B9DC-42CAEEE4F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D7767-4068-5312-03E5-414C800B480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2C55BA-B783-034B-BAF8-A970EB131ADF}"/>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502027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9566-3A9D-1846-EEA8-69BABC972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31795-F27B-EA6F-B8A1-E3B0EF87DA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AE9BE1-53CA-9242-9B07-08FF9747FD46}"/>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947291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B511BE08-A1FB-1BAC-A981-971CD215166C}"/>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53449677-3881-11CB-F8CF-3B005EAC45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E5178150-0C56-7E26-4FE1-798EB4CC7A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1412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CAE681C-6F7F-92FF-65CC-8951B3FB6148}"/>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0E5C821A-927F-2173-03FA-87BF4BF8E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42C2BDAD-3DC7-A39E-F396-074ECC1F29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7755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853F281-8A8A-7954-60EF-F328BFB8CF73}"/>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BE7C52F3-BA08-01AF-8CA3-AEF1B6C4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01CC8DBF-2CB2-354B-04F3-5C7EE890FB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58471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C8D4210-F657-B6F4-CD35-F4E32CEC3E45}"/>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3D59C675-6BDB-E5D5-C798-4D2179C71B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5B5C19E4-E829-1B6E-4DB5-DC99B3FEFC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171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689F1D4-AED9-0FAC-DFA3-7603470AC597}"/>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9BDD348F-524D-EAD5-0C37-CBD92508A5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F7C52553-93DF-F956-3D30-AE4327F76C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84632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6"/>
          <p:cNvSpPr txBox="1">
            <a:spLocks noGrp="1"/>
          </p:cNvSpPr>
          <p:nvPr>
            <p:ph type="body" idx="1"/>
          </p:nvPr>
        </p:nvSpPr>
        <p:spPr>
          <a:xfrm>
            <a:off x="411480" y="1200149"/>
            <a:ext cx="50963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0" name="Google Shape;90;p6"/>
          <p:cNvSpPr txBox="1">
            <a:spLocks noGrp="1"/>
          </p:cNvSpPr>
          <p:nvPr>
            <p:ph type="dt" idx="10"/>
          </p:nvPr>
        </p:nvSpPr>
        <p:spPr>
          <a:xfrm>
            <a:off x="411480" y="4972050"/>
            <a:ext cx="617220"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
          <p:cNvSpPr txBox="1">
            <a:spLocks noGrp="1"/>
          </p:cNvSpPr>
          <p:nvPr>
            <p:ph type="sldNum" idx="12"/>
          </p:nvPr>
        </p:nvSpPr>
        <p:spPr>
          <a:xfrm>
            <a:off x="8433828" y="4972050"/>
            <a:ext cx="299408"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5.xml"/><Relationship Id="rId1" Type="http://schemas.openxmlformats.org/officeDocument/2006/relationships/video" Target="https://www.youtube.com/embed/91FQKciKfHI?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CONDITIONAL STATEMENTS AND LOOPS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39BB-1B0C-D8C8-5B66-BCFFF77CAD71}"/>
            </a:ext>
          </a:extLst>
        </p:cNvPr>
        <p:cNvGrpSpPr/>
        <p:nvPr/>
      </p:nvGrpSpPr>
      <p:grpSpPr>
        <a:xfrm>
          <a:off x="0" y="0"/>
          <a:ext cx="0" cy="0"/>
          <a:chOff x="0" y="0"/>
          <a:chExt cx="0" cy="0"/>
        </a:xfrm>
      </p:grpSpPr>
      <p:pic>
        <p:nvPicPr>
          <p:cNvPr id="3" name="Online Media 2" title="The Gap by Ira Glass">
            <a:hlinkClick r:id="" action="ppaction://media"/>
            <a:extLst>
              <a:ext uri="{FF2B5EF4-FFF2-40B4-BE49-F238E27FC236}">
                <a16:creationId xmlns:a16="http://schemas.microsoft.com/office/drawing/2014/main" id="{5F6AD997-78F5-EFB2-DAB2-D270C11618D7}"/>
              </a:ext>
            </a:extLst>
          </p:cNvPr>
          <p:cNvPicPr>
            <a:picLocks noRot="1" noChangeAspect="1"/>
          </p:cNvPicPr>
          <p:nvPr>
            <a:videoFile r:link="rId1"/>
          </p:nvPr>
        </p:nvPicPr>
        <p:blipFill>
          <a:blip r:embed="rId3"/>
          <a:stretch>
            <a:fillRect/>
          </a:stretch>
        </p:blipFill>
        <p:spPr>
          <a:xfrm>
            <a:off x="624468" y="931773"/>
            <a:ext cx="6744436" cy="3810283"/>
          </a:xfrm>
          <a:prstGeom prst="rect">
            <a:avLst/>
          </a:prstGeom>
        </p:spPr>
      </p:pic>
      <p:sp>
        <p:nvSpPr>
          <p:cNvPr id="5" name="Title 1">
            <a:extLst>
              <a:ext uri="{FF2B5EF4-FFF2-40B4-BE49-F238E27FC236}">
                <a16:creationId xmlns:a16="http://schemas.microsoft.com/office/drawing/2014/main" id="{DD32A508-3EBE-8995-20F4-E2B2ADF812A4}"/>
              </a:ext>
            </a:extLst>
          </p:cNvPr>
          <p:cNvSpPr>
            <a:spLocks noGrp="1"/>
          </p:cNvSpPr>
          <p:nvPr>
            <p:ph type="title"/>
          </p:nvPr>
        </p:nvSpPr>
        <p:spPr>
          <a:xfrm>
            <a:off x="411480" y="308611"/>
            <a:ext cx="6173470" cy="685800"/>
          </a:xfrm>
        </p:spPr>
        <p:txBody>
          <a:bodyPr/>
          <a:lstStyle/>
          <a:p>
            <a:r>
              <a:rPr lang="en-US" dirty="0"/>
              <a:t>The Gap by Ira Glass</a:t>
            </a:r>
          </a:p>
        </p:txBody>
      </p:sp>
    </p:spTree>
    <p:extLst>
      <p:ext uri="{BB962C8B-B14F-4D97-AF65-F5344CB8AC3E}">
        <p14:creationId xmlns:p14="http://schemas.microsoft.com/office/powerpoint/2010/main" val="92615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9EF7-0907-58C5-BCDF-9D7E6F1AF0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CBE7D1-FF9F-C4E6-5104-6941DD0593E4}"/>
              </a:ext>
            </a:extLst>
          </p:cNvPr>
          <p:cNvSpPr>
            <a:spLocks noGrp="1"/>
          </p:cNvSpPr>
          <p:nvPr>
            <p:ph type="title"/>
          </p:nvPr>
        </p:nvSpPr>
        <p:spPr>
          <a:xfrm>
            <a:off x="411480" y="308611"/>
            <a:ext cx="6173470" cy="685800"/>
          </a:xfrm>
        </p:spPr>
        <p:txBody>
          <a:bodyPr/>
          <a:lstStyle/>
          <a:p>
            <a:r>
              <a:rPr lang="en-US" dirty="0"/>
              <a:t>Quantity vs. Quality?</a:t>
            </a:r>
          </a:p>
        </p:txBody>
      </p:sp>
      <p:sp>
        <p:nvSpPr>
          <p:cNvPr id="4" name="Text Placeholder 3">
            <a:extLst>
              <a:ext uri="{FF2B5EF4-FFF2-40B4-BE49-F238E27FC236}">
                <a16:creationId xmlns:a16="http://schemas.microsoft.com/office/drawing/2014/main" id="{329DD88E-C667-8CD0-EB38-B74D5878DC13}"/>
              </a:ext>
            </a:extLst>
          </p:cNvPr>
          <p:cNvSpPr>
            <a:spLocks noGrp="1"/>
          </p:cNvSpPr>
          <p:nvPr>
            <p:ph type="body" idx="1"/>
          </p:nvPr>
        </p:nvSpPr>
        <p:spPr>
          <a:xfrm>
            <a:off x="411479" y="1200149"/>
            <a:ext cx="8680481" cy="3429000"/>
          </a:xfrm>
        </p:spPr>
        <p:txBody>
          <a:bodyPr/>
          <a:lstStyle/>
          <a:p>
            <a:pPr marL="114300" indent="0">
              <a:buNone/>
            </a:pPr>
            <a:r>
              <a:rPr lang="en-US" sz="1800" dirty="0"/>
              <a:t>In creative endeavors, quantity beats (and creates) quality</a:t>
            </a:r>
          </a:p>
          <a:p>
            <a:pPr marL="114300" indent="0">
              <a:buNone/>
            </a:pPr>
            <a:endParaRPr lang="en-US" sz="1800" dirty="0"/>
          </a:p>
          <a:p>
            <a:pPr marL="114300" indent="0">
              <a:buNone/>
            </a:pPr>
            <a:r>
              <a:rPr lang="en-US" sz="1800" dirty="0"/>
              <a:t>The pottery anecdote</a:t>
            </a:r>
          </a:p>
          <a:p>
            <a:endParaRPr lang="en-US" dirty="0"/>
          </a:p>
        </p:txBody>
      </p:sp>
    </p:spTree>
    <p:extLst>
      <p:ext uri="{BB962C8B-B14F-4D97-AF65-F5344CB8AC3E}">
        <p14:creationId xmlns:p14="http://schemas.microsoft.com/office/powerpoint/2010/main" val="81264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770C-48A1-120B-65AF-040A22F94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BC43E-49B2-D627-1DA6-CF46FBE1FC34}"/>
              </a:ext>
            </a:extLst>
          </p:cNvPr>
          <p:cNvSpPr>
            <a:spLocks noGrp="1"/>
          </p:cNvSpPr>
          <p:nvPr>
            <p:ph type="title"/>
          </p:nvPr>
        </p:nvSpPr>
        <p:spPr/>
        <p:txBody>
          <a:bodyPr/>
          <a:lstStyle/>
          <a:p>
            <a:r>
              <a:rPr lang="en-US" dirty="0"/>
              <a:t>Review:  What is a Boolean?</a:t>
            </a:r>
          </a:p>
        </p:txBody>
      </p:sp>
      <p:sp>
        <p:nvSpPr>
          <p:cNvPr id="4" name="Text Placeholder 3">
            <a:extLst>
              <a:ext uri="{FF2B5EF4-FFF2-40B4-BE49-F238E27FC236}">
                <a16:creationId xmlns:a16="http://schemas.microsoft.com/office/drawing/2014/main" id="{255FB9D0-1E02-674B-D500-C87624F37A72}"/>
              </a:ext>
            </a:extLst>
          </p:cNvPr>
          <p:cNvSpPr>
            <a:spLocks noGrp="1"/>
          </p:cNvSpPr>
          <p:nvPr>
            <p:ph type="body" idx="1"/>
          </p:nvPr>
        </p:nvSpPr>
        <p:spPr/>
        <p:txBody>
          <a:bodyPr/>
          <a:lstStyle/>
          <a:p>
            <a:pPr marL="114300" indent="0">
              <a:buNone/>
            </a:pPr>
            <a:endParaRPr lang="en-US" dirty="0"/>
          </a:p>
        </p:txBody>
      </p:sp>
    </p:spTree>
    <p:extLst>
      <p:ext uri="{BB962C8B-B14F-4D97-AF65-F5344CB8AC3E}">
        <p14:creationId xmlns:p14="http://schemas.microsoft.com/office/powerpoint/2010/main" val="2059899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1B97E-714F-6792-65A3-B51EC1558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3B741-BA59-3248-C771-0511FF5F8FDB}"/>
              </a:ext>
            </a:extLst>
          </p:cNvPr>
          <p:cNvSpPr>
            <a:spLocks noGrp="1"/>
          </p:cNvSpPr>
          <p:nvPr>
            <p:ph type="title"/>
          </p:nvPr>
        </p:nvSpPr>
        <p:spPr/>
        <p:txBody>
          <a:bodyPr/>
          <a:lstStyle/>
          <a:p>
            <a:r>
              <a:rPr lang="en-US" dirty="0"/>
              <a:t>Review:  What are some different datatypes in Python?</a:t>
            </a:r>
          </a:p>
        </p:txBody>
      </p:sp>
      <p:sp>
        <p:nvSpPr>
          <p:cNvPr id="4" name="Text Placeholder 3">
            <a:extLst>
              <a:ext uri="{FF2B5EF4-FFF2-40B4-BE49-F238E27FC236}">
                <a16:creationId xmlns:a16="http://schemas.microsoft.com/office/drawing/2014/main" id="{6DE3801E-72F0-BC25-F091-8570E7CC85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82927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0EB0-A53E-5D06-66F5-0172CA341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B226-AB07-EDB8-095F-F12F62F983A8}"/>
              </a:ext>
            </a:extLst>
          </p:cNvPr>
          <p:cNvSpPr>
            <a:spLocks noGrp="1"/>
          </p:cNvSpPr>
          <p:nvPr>
            <p:ph type="title"/>
          </p:nvPr>
        </p:nvSpPr>
        <p:spPr/>
        <p:txBody>
          <a:bodyPr/>
          <a:lstStyle/>
          <a:p>
            <a:r>
              <a:rPr lang="en-US" dirty="0"/>
              <a:t>Review:  How can we get information from a user of our program?</a:t>
            </a:r>
          </a:p>
        </p:txBody>
      </p:sp>
      <p:sp>
        <p:nvSpPr>
          <p:cNvPr id="4" name="Text Placeholder 3">
            <a:extLst>
              <a:ext uri="{FF2B5EF4-FFF2-40B4-BE49-F238E27FC236}">
                <a16:creationId xmlns:a16="http://schemas.microsoft.com/office/drawing/2014/main" id="{52BC0CE4-2AC3-D1D3-88ED-D4240E6B61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562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CBE7-F27B-69F7-8AFF-7885D9988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38975-6310-8A59-F9F0-5DB928600943}"/>
              </a:ext>
            </a:extLst>
          </p:cNvPr>
          <p:cNvSpPr>
            <a:spLocks noGrp="1"/>
          </p:cNvSpPr>
          <p:nvPr>
            <p:ph type="title"/>
          </p:nvPr>
        </p:nvSpPr>
        <p:spPr/>
        <p:txBody>
          <a:bodyPr/>
          <a:lstStyle/>
          <a:p>
            <a:r>
              <a:rPr lang="en-US" dirty="0"/>
              <a:t>Review:  What function allows us to display information in our terminal?</a:t>
            </a:r>
          </a:p>
        </p:txBody>
      </p:sp>
      <p:sp>
        <p:nvSpPr>
          <p:cNvPr id="4" name="Text Placeholder 3">
            <a:extLst>
              <a:ext uri="{FF2B5EF4-FFF2-40B4-BE49-F238E27FC236}">
                <a16:creationId xmlns:a16="http://schemas.microsoft.com/office/drawing/2014/main" id="{ED547112-3CFB-A9A8-CF60-B30758ABC7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310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CAF5A-D086-8531-5DAD-589AD1623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9D610-1ADB-7C70-4169-33FAAC0CFD5E}"/>
              </a:ext>
            </a:extLst>
          </p:cNvPr>
          <p:cNvSpPr>
            <a:spLocks noGrp="1"/>
          </p:cNvSpPr>
          <p:nvPr>
            <p:ph type="title"/>
          </p:nvPr>
        </p:nvSpPr>
        <p:spPr/>
        <p:txBody>
          <a:bodyPr/>
          <a:lstStyle/>
          <a:p>
            <a:r>
              <a:rPr lang="en-US" dirty="0"/>
              <a:t>Review:  What is type casting, and why is it important?</a:t>
            </a:r>
          </a:p>
        </p:txBody>
      </p:sp>
      <p:sp>
        <p:nvSpPr>
          <p:cNvPr id="4" name="Text Placeholder 3">
            <a:extLst>
              <a:ext uri="{FF2B5EF4-FFF2-40B4-BE49-F238E27FC236}">
                <a16:creationId xmlns:a16="http://schemas.microsoft.com/office/drawing/2014/main" id="{83E50D5F-06FC-A9BF-8425-224692E0142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9668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FF55-7A93-B809-B415-86211FFC3A17}"/>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B0D8F578-8096-8B90-078A-B8A4C5B3AF49}"/>
              </a:ext>
            </a:extLst>
          </p:cNvPr>
          <p:cNvSpPr>
            <a:spLocks noGrp="1"/>
          </p:cNvSpPr>
          <p:nvPr>
            <p:ph type="body" idx="1"/>
          </p:nvPr>
        </p:nvSpPr>
        <p:spPr>
          <a:xfrm>
            <a:off x="411479" y="1200149"/>
            <a:ext cx="5409457" cy="3429000"/>
          </a:xfrm>
        </p:spPr>
        <p:txBody>
          <a:bodyPr/>
          <a:lstStyle/>
          <a:p>
            <a:r>
              <a:rPr lang="en-US" dirty="0"/>
              <a:t>Currently, they run from left to right, top to bottom, just like reading a book…</a:t>
            </a:r>
          </a:p>
          <a:p>
            <a:endParaRPr lang="en-US" dirty="0"/>
          </a:p>
          <a:p>
            <a:endParaRPr lang="en-US" dirty="0"/>
          </a:p>
          <a:p>
            <a:r>
              <a:rPr lang="en-US" dirty="0"/>
              <a:t>But what if we wanted to only run certain sections of code if a condition was met (if the condition was True!).</a:t>
            </a:r>
          </a:p>
          <a:p>
            <a:pPr lvl="1"/>
            <a:r>
              <a:rPr lang="en-US" dirty="0"/>
              <a:t>How could we do this?</a:t>
            </a:r>
          </a:p>
        </p:txBody>
      </p:sp>
    </p:spTree>
    <p:extLst>
      <p:ext uri="{BB962C8B-B14F-4D97-AF65-F5344CB8AC3E}">
        <p14:creationId xmlns:p14="http://schemas.microsoft.com/office/powerpoint/2010/main" val="201878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CONDITIONAL STATEMENTS</a:t>
            </a:r>
          </a:p>
        </p:txBody>
      </p:sp>
      <p:sp>
        <p:nvSpPr>
          <p:cNvPr id="4" name="Text Placeholder 3">
            <a:extLst>
              <a:ext uri="{FF2B5EF4-FFF2-40B4-BE49-F238E27FC236}">
                <a16:creationId xmlns:a16="http://schemas.microsoft.com/office/drawing/2014/main" id="{34679F32-1E61-7397-F13C-41965F970DC7}"/>
              </a:ext>
            </a:extLst>
          </p:cNvPr>
          <p:cNvSpPr>
            <a:spLocks noGrp="1"/>
          </p:cNvSpPr>
          <p:nvPr>
            <p:ph type="body" idx="1"/>
          </p:nvPr>
        </p:nvSpPr>
        <p:spPr/>
        <p:txBody>
          <a:bodyPr/>
          <a:lstStyle/>
          <a:p>
            <a:r>
              <a:rPr lang="en-US" dirty="0"/>
              <a:t>Conditions are expressions that evaluate to a Boolean value</a:t>
            </a:r>
          </a:p>
          <a:p>
            <a:endParaRPr lang="en-US" dirty="0"/>
          </a:p>
          <a:p>
            <a:r>
              <a:rPr lang="en-US" dirty="0"/>
              <a:t>They often involve comparison operators (&lt;, &gt;, ==, !=, &lt;=, &gt;=) and logical operators (and, or, not)</a:t>
            </a:r>
          </a:p>
          <a:p>
            <a:endParaRPr lang="en-US" dirty="0"/>
          </a:p>
          <a:p>
            <a:r>
              <a:rPr lang="en-US" dirty="0"/>
              <a:t>Python relies on indentation (whitespace at the beginning of a line) to define code blocks</a:t>
            </a:r>
          </a:p>
          <a:p>
            <a:endParaRPr lang="en-US" dirty="0"/>
          </a:p>
          <a:p>
            <a:r>
              <a:rPr lang="en-US" dirty="0"/>
              <a:t>Incorrect indentation will lead to errors.</a:t>
            </a:r>
          </a:p>
          <a:p>
            <a:endParaRPr lang="en-US" dirty="0"/>
          </a:p>
          <a:p>
            <a:r>
              <a:rPr lang="en-US" dirty="0"/>
              <a:t>You can create Nested Conditional Statements to control the flow of code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23016A67-CE54-4A5A-9271-07F997421D4A}"/>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FE3AF8F9-539A-FE87-5F54-FF3F38E3CE1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5752E8AB-9D8C-EBED-9070-20503EFFDB7C}"/>
              </a:ext>
            </a:extLst>
          </p:cNvPr>
          <p:cNvSpPr txBox="1"/>
          <p:nvPr/>
        </p:nvSpPr>
        <p:spPr>
          <a:xfrm>
            <a:off x="411480" y="823775"/>
            <a:ext cx="4572000" cy="1384995"/>
          </a:xfrm>
          <a:prstGeom prst="rect">
            <a:avLst/>
          </a:prstGeom>
          <a:noFill/>
        </p:spPr>
        <p:txBody>
          <a:bodyPr wrap="square">
            <a:spAutoFit/>
          </a:bodyPr>
          <a:lstStyle/>
          <a:p>
            <a:r>
              <a:rPr lang="en-US" dirty="0"/>
              <a:t>Given:</a:t>
            </a:r>
          </a:p>
          <a:p>
            <a:endParaRPr lang="en-US" dirty="0"/>
          </a:p>
          <a:p>
            <a:r>
              <a:rPr lang="en-US" dirty="0"/>
              <a:t>x = 14      </a:t>
            </a:r>
          </a:p>
          <a:p>
            <a:r>
              <a:rPr lang="en-US" dirty="0"/>
              <a:t>y = 15</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809ADA77-DBA2-F43E-34E6-F5EABCB78A70}"/>
              </a:ext>
            </a:extLst>
          </p:cNvPr>
          <p:cNvGraphicFramePr>
            <a:graphicFrameLocks noGrp="1"/>
          </p:cNvGraphicFramePr>
          <p:nvPr>
            <p:extLst>
              <p:ext uri="{D42A27DB-BD31-4B8C-83A1-F6EECF244321}">
                <p14:modId xmlns:p14="http://schemas.microsoft.com/office/powerpoint/2010/main" val="1031313255"/>
              </p:ext>
            </p:extLst>
          </p:nvPr>
        </p:nvGraphicFramePr>
        <p:xfrm>
          <a:off x="1524000" y="2357088"/>
          <a:ext cx="6173470" cy="2400768"/>
        </p:xfrm>
        <a:graphic>
          <a:graphicData uri="http://schemas.openxmlformats.org/drawingml/2006/table">
            <a:tbl>
              <a:tblPr firstRow="1" bandRow="1">
                <a:tableStyleId>{5B9063A8-BC75-44AB-A561-BE0A82F3F6A3}</a:tableStyleId>
              </a:tblPr>
              <a:tblGrid>
                <a:gridCol w="3086735">
                  <a:extLst>
                    <a:ext uri="{9D8B030D-6E8A-4147-A177-3AD203B41FA5}">
                      <a16:colId xmlns:a16="http://schemas.microsoft.com/office/drawing/2014/main" val="1632592424"/>
                    </a:ext>
                  </a:extLst>
                </a:gridCol>
                <a:gridCol w="3086735">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x ==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x &gt;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y &lt;= 15</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y &gt; x</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r h="400128">
                <a:tc>
                  <a:txBody>
                    <a:bodyPr/>
                    <a:lstStyle/>
                    <a:p>
                      <a:r>
                        <a:rPr lang="en-US" dirty="0"/>
                        <a:t>not(x &lt; 100)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66904657"/>
                  </a:ext>
                </a:extLst>
              </a:tr>
            </a:tbl>
          </a:graphicData>
        </a:graphic>
      </p:graphicFrame>
      <p:sp>
        <p:nvSpPr>
          <p:cNvPr id="7" name="TextBox 6">
            <a:extLst>
              <a:ext uri="{FF2B5EF4-FFF2-40B4-BE49-F238E27FC236}">
                <a16:creationId xmlns:a16="http://schemas.microsoft.com/office/drawing/2014/main" id="{B9058F73-824C-3E96-5F6D-D2481A389E0C}"/>
              </a:ext>
            </a:extLst>
          </p:cNvPr>
          <p:cNvSpPr txBox="1"/>
          <p:nvPr/>
        </p:nvSpPr>
        <p:spPr>
          <a:xfrm>
            <a:off x="4572000" y="2723934"/>
            <a:ext cx="641522" cy="2462213"/>
          </a:xfrm>
          <a:prstGeom prst="rect">
            <a:avLst/>
          </a:prstGeom>
          <a:noFill/>
        </p:spPr>
        <p:txBody>
          <a:bodyPr wrap="none" rtlCol="0">
            <a:spAutoFit/>
          </a:bodyPr>
          <a:lstStyle/>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dirty="0"/>
          </a:p>
          <a:p>
            <a:endParaRPr lang="en-US" dirty="0"/>
          </a:p>
        </p:txBody>
      </p:sp>
    </p:spTree>
    <p:extLst>
      <p:ext uri="{BB962C8B-B14F-4D97-AF65-F5344CB8AC3E}">
        <p14:creationId xmlns:p14="http://schemas.microsoft.com/office/powerpoint/2010/main" val="259205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A2AB4A04-76B0-B696-2A42-52A5432D5927}"/>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710FA098-58D4-9EF5-1D79-64A8246ED36E}"/>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F36BCC88-B5D6-78AF-4644-1CBFD4CAFD49}"/>
              </a:ext>
            </a:extLst>
          </p:cNvPr>
          <p:cNvSpPr txBox="1"/>
          <p:nvPr/>
        </p:nvSpPr>
        <p:spPr>
          <a:xfrm>
            <a:off x="411480" y="823775"/>
            <a:ext cx="4572000" cy="1815882"/>
          </a:xfrm>
          <a:prstGeom prst="rect">
            <a:avLst/>
          </a:prstGeom>
          <a:noFill/>
        </p:spPr>
        <p:txBody>
          <a:bodyPr wrap="square">
            <a:spAutoFit/>
          </a:bodyPr>
          <a:lstStyle/>
          <a:p>
            <a:r>
              <a:rPr lang="en-US" dirty="0"/>
              <a:t>Given:</a:t>
            </a:r>
          </a:p>
          <a:p>
            <a:endParaRPr lang="en-US" dirty="0"/>
          </a:p>
          <a:p>
            <a:r>
              <a:rPr lang="en-US" dirty="0"/>
              <a:t>age = 20      </a:t>
            </a:r>
          </a:p>
          <a:p>
            <a:r>
              <a:rPr lang="en-US" dirty="0"/>
              <a:t>money = 100</a:t>
            </a:r>
          </a:p>
          <a:p>
            <a:r>
              <a:rPr lang="en-US" dirty="0" err="1"/>
              <a:t>isMilitary</a:t>
            </a:r>
            <a:r>
              <a:rPr lang="en-US" dirty="0"/>
              <a:t> = True</a:t>
            </a:r>
          </a:p>
          <a:p>
            <a:r>
              <a:rPr lang="en-US" dirty="0" err="1"/>
              <a:t>isOnPermanentProfile</a:t>
            </a:r>
            <a:r>
              <a:rPr lang="en-US" dirty="0"/>
              <a:t> = False</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347F9B61-AD98-F6D6-D5FD-7D8A39F93A95}"/>
              </a:ext>
            </a:extLst>
          </p:cNvPr>
          <p:cNvGraphicFramePr>
            <a:graphicFrameLocks noGrp="1"/>
          </p:cNvGraphicFramePr>
          <p:nvPr>
            <p:extLst>
              <p:ext uri="{D42A27DB-BD31-4B8C-83A1-F6EECF244321}">
                <p14:modId xmlns:p14="http://schemas.microsoft.com/office/powerpoint/2010/main" val="2892998560"/>
              </p:ext>
            </p:extLst>
          </p:nvPr>
        </p:nvGraphicFramePr>
        <p:xfrm>
          <a:off x="411480" y="2639657"/>
          <a:ext cx="8550537" cy="2000640"/>
        </p:xfrm>
        <a:graphic>
          <a:graphicData uri="http://schemas.openxmlformats.org/drawingml/2006/table">
            <a:tbl>
              <a:tblPr firstRow="1" bandRow="1">
                <a:tableStyleId>{5B9063A8-BC75-44AB-A561-BE0A82F3F6A3}</a:tableStyleId>
              </a:tblPr>
              <a:tblGrid>
                <a:gridCol w="4680910">
                  <a:extLst>
                    <a:ext uri="{9D8B030D-6E8A-4147-A177-3AD203B41FA5}">
                      <a16:colId xmlns:a16="http://schemas.microsoft.com/office/drawing/2014/main" val="1632592424"/>
                    </a:ext>
                  </a:extLst>
                </a:gridCol>
                <a:gridCol w="3869627">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age &gt; 21 and money &gt; 10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age &gt; 18 and money &gt; 0 </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age &gt; 60 or </a:t>
                      </a:r>
                      <a:r>
                        <a:rPr lang="en-US" dirty="0" err="1"/>
                        <a:t>isMilitary</a:t>
                      </a:r>
                      <a:endParaRPr lang="en-US" dirty="0"/>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age &gt; 18 and </a:t>
                      </a:r>
                      <a:r>
                        <a:rPr lang="en-US" dirty="0" err="1"/>
                        <a:t>isMilitary</a:t>
                      </a:r>
                      <a:r>
                        <a:rPr lang="en-US" dirty="0"/>
                        <a:t> and not(</a:t>
                      </a:r>
                      <a:r>
                        <a:rPr lang="en-US" dirty="0" err="1"/>
                        <a:t>isOnPermanentProfile</a:t>
                      </a:r>
                      <a:r>
                        <a:rPr lang="en-US" dirty="0"/>
                        <a:t>)</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bl>
          </a:graphicData>
        </a:graphic>
      </p:graphicFrame>
      <p:sp>
        <p:nvSpPr>
          <p:cNvPr id="7" name="TextBox 6">
            <a:extLst>
              <a:ext uri="{FF2B5EF4-FFF2-40B4-BE49-F238E27FC236}">
                <a16:creationId xmlns:a16="http://schemas.microsoft.com/office/drawing/2014/main" id="{B30A3136-87D0-1369-68B0-81034D9F3ABB}"/>
              </a:ext>
            </a:extLst>
          </p:cNvPr>
          <p:cNvSpPr txBox="1"/>
          <p:nvPr/>
        </p:nvSpPr>
        <p:spPr>
          <a:xfrm>
            <a:off x="5034339" y="3038928"/>
            <a:ext cx="3927678" cy="2246769"/>
          </a:xfrm>
          <a:prstGeom prst="rect">
            <a:avLst/>
          </a:prstGeom>
          <a:noFill/>
        </p:spPr>
        <p:txBody>
          <a:bodyPr wrap="none" rtlCol="0">
            <a:spAutoFit/>
          </a:bodyPr>
          <a:lstStyle/>
          <a:p>
            <a:r>
              <a:rPr lang="en-US" b="1" dirty="0">
                <a:solidFill>
                  <a:srgbClr val="00B050"/>
                </a:solidFill>
              </a:rPr>
              <a:t>False    (You cannot buy an adult beverage!)</a:t>
            </a:r>
          </a:p>
          <a:p>
            <a:endParaRPr lang="en-US" b="1" dirty="0">
              <a:solidFill>
                <a:srgbClr val="00B050"/>
              </a:solidFill>
            </a:endParaRPr>
          </a:p>
          <a:p>
            <a:r>
              <a:rPr lang="en-US" b="1" dirty="0">
                <a:solidFill>
                  <a:srgbClr val="00B050"/>
                </a:solidFill>
              </a:rPr>
              <a:t>True   (You can vote!)</a:t>
            </a:r>
          </a:p>
          <a:p>
            <a:endParaRPr lang="en-US" b="1" dirty="0">
              <a:solidFill>
                <a:srgbClr val="00B050"/>
              </a:solidFill>
            </a:endParaRPr>
          </a:p>
          <a:p>
            <a:r>
              <a:rPr lang="en-US" b="1" dirty="0">
                <a:solidFill>
                  <a:srgbClr val="00B050"/>
                </a:solidFill>
              </a:rPr>
              <a:t>True   (You can get a discount!)</a:t>
            </a:r>
          </a:p>
          <a:p>
            <a:endParaRPr lang="en-US" b="1" dirty="0">
              <a:solidFill>
                <a:srgbClr val="00B050"/>
              </a:solidFill>
            </a:endParaRPr>
          </a:p>
          <a:p>
            <a:r>
              <a:rPr lang="en-US" b="1" dirty="0">
                <a:solidFill>
                  <a:srgbClr val="00B050"/>
                </a:solidFill>
              </a:rPr>
              <a:t>True (You’re going to war!)</a:t>
            </a:r>
          </a:p>
          <a:p>
            <a:endParaRPr lang="en-US" b="1" dirty="0">
              <a:solidFill>
                <a:srgbClr val="00B050"/>
              </a:solidFill>
            </a:endParaRPr>
          </a:p>
          <a:p>
            <a:endParaRPr lang="en-US" dirty="0"/>
          </a:p>
          <a:p>
            <a:endParaRPr lang="en-US" dirty="0"/>
          </a:p>
        </p:txBody>
      </p:sp>
    </p:spTree>
    <p:extLst>
      <p:ext uri="{BB962C8B-B14F-4D97-AF65-F5344CB8AC3E}">
        <p14:creationId xmlns:p14="http://schemas.microsoft.com/office/powerpoint/2010/main" val="39721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"IF" STATEMENT</a:t>
            </a:r>
          </a:p>
        </p:txBody>
      </p:sp>
      <p:sp>
        <p:nvSpPr>
          <p:cNvPr id="394" name="Google Shape;394;p42"/>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Executes a block of code only if a given condition evaluates to True</a:t>
            </a:r>
          </a:p>
          <a:p>
            <a:pPr lvl="0"/>
            <a:endParaRPr lang="en-US" dirty="0"/>
          </a:p>
          <a:p>
            <a:pPr lvl="0"/>
            <a:r>
              <a:rPr lang="en-US" dirty="0"/>
              <a:t>Syntax:</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condition:</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a:p>
            <a:pPr lvl="0"/>
            <a:r>
              <a:rPr lang="en-US" dirty="0"/>
              <a:t>Example: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age = 20</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age &gt;= 18:</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print(“You are eligible to vote.”)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“ELSE” STATEMENT</a:t>
            </a:r>
          </a:p>
        </p:txBody>
      </p:sp>
      <p:sp>
        <p:nvSpPr>
          <p:cNvPr id="400" name="Google Shape;400;p43"/>
          <p:cNvSpPr txBox="1">
            <a:spLocks noGrp="1"/>
          </p:cNvSpPr>
          <p:nvPr>
            <p:ph type="body" idx="1"/>
          </p:nvPr>
        </p:nvSpPr>
        <p:spPr>
          <a:xfrm>
            <a:off x="411480" y="864524"/>
            <a:ext cx="5096352" cy="3764625"/>
          </a:xfrm>
          <a:noFill/>
          <a:ln>
            <a:noFill/>
          </a:ln>
        </p:spPr>
        <p:txBody>
          <a:bodyPr spcFirstLastPara="1" wrap="square" lIns="91425" tIns="91425" rIns="91425" bIns="91425" anchor="t" anchorCtr="0">
            <a:normAutofit/>
          </a:bodyPr>
          <a:lstStyle/>
          <a:p>
            <a:pPr lvl="0"/>
            <a:r>
              <a:rPr lang="en-US" dirty="0"/>
              <a:t>“Else” is used in conjunction with “if” </a:t>
            </a:r>
          </a:p>
          <a:p>
            <a:pPr lvl="0"/>
            <a:r>
              <a:rPr lang="en-US" dirty="0"/>
              <a:t>Provides an alternate block of code to execute if the “if” condition evaluates to false</a:t>
            </a:r>
          </a:p>
          <a:p>
            <a:pPr lvl="0"/>
            <a:endParaRPr lang="en-US" dirty="0"/>
          </a:p>
          <a:p>
            <a:pPr lvl="0"/>
            <a:r>
              <a:rPr lang="en-US" dirty="0"/>
              <a:t>Syntax:</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condition:</a:t>
            </a:r>
            <a:endParaRPr lang="en-US" sz="900" dirty="0">
              <a:latin typeface="Courier New" panose="02070309020205020404" pitchFamily="49" charset="0"/>
              <a:cs typeface="Courier New" panose="02070309020205020404" pitchFamily="49" charset="0"/>
            </a:endParaRP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else condition:</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a:p>
            <a:pPr lvl="0"/>
            <a:r>
              <a:rPr lang="en-US" dirty="0"/>
              <a:t>Example: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temperature = 78</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temperature &gt; 85:</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print(“It’s hot out today!”)</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else: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print(“It’s not too hot.”)</a:t>
            </a:r>
          </a:p>
          <a:p>
            <a:pPr lvl="0"/>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406" name="Google Shape;406;p44"/>
          <p:cNvSpPr txBox="1">
            <a:spLocks noGrp="1"/>
          </p:cNvSpPr>
          <p:nvPr>
            <p:ph type="body" idx="1"/>
          </p:nvPr>
        </p:nvSpPr>
        <p:spPr>
          <a:xfrm>
            <a:off x="411480" y="931025"/>
            <a:ext cx="5096352" cy="3903864"/>
          </a:xfrm>
          <a:noFill/>
          <a:ln>
            <a:noFill/>
          </a:ln>
        </p:spPr>
        <p:txBody>
          <a:bodyPr spcFirstLastPara="1" wrap="square" lIns="91425" tIns="91425" rIns="91425" bIns="91425" anchor="t" anchorCtr="0">
            <a:normAutofit/>
          </a:bodyPr>
          <a:lstStyle/>
          <a:p>
            <a:pPr lvl="0"/>
            <a:r>
              <a:rPr lang="en-US" dirty="0"/>
              <a:t>“</a:t>
            </a:r>
            <a:r>
              <a:rPr lang="en-US" dirty="0" err="1"/>
              <a:t>elif</a:t>
            </a:r>
            <a:r>
              <a:rPr lang="en-US" dirty="0"/>
              <a:t>” is short for else-if</a:t>
            </a:r>
          </a:p>
          <a:p>
            <a:pPr lvl="0"/>
            <a:r>
              <a:rPr lang="en-US" dirty="0"/>
              <a:t>It allows for checking multiple conditions sequentially</a:t>
            </a:r>
          </a:p>
          <a:p>
            <a:pPr lvl="0"/>
            <a:r>
              <a:rPr lang="en-US" dirty="0"/>
              <a:t>If the “if” condition evaluates to false, the “</a:t>
            </a:r>
            <a:r>
              <a:rPr lang="en-US" dirty="0" err="1"/>
              <a:t>elif</a:t>
            </a:r>
            <a:r>
              <a:rPr lang="en-US" dirty="0"/>
              <a:t>” statements are evaluated in order until one evaluates to True</a:t>
            </a:r>
          </a:p>
          <a:p>
            <a:pPr lvl="0"/>
            <a:r>
              <a:rPr lang="en-US" dirty="0"/>
              <a:t>Syntax:</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if condition:</a:t>
            </a:r>
            <a:endParaRPr lang="en-US" dirty="0">
              <a:latin typeface="Courier New" panose="02070309020205020404" pitchFamily="49" charset="0"/>
              <a:cs typeface="Courier New" panose="02070309020205020404" pitchFamily="49" charset="0"/>
            </a:endParaRP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condition:</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else condition:</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95485907-6110-0750-D030-B158D4C703F8}"/>
            </a:ext>
          </a:extLst>
        </p:cNvPr>
        <p:cNvGrpSpPr/>
        <p:nvPr/>
      </p:nvGrpSpPr>
      <p:grpSpPr>
        <a:xfrm>
          <a:off x="0" y="0"/>
          <a:ext cx="0" cy="0"/>
          <a:chOff x="0" y="0"/>
          <a:chExt cx="0" cy="0"/>
        </a:xfrm>
      </p:grpSpPr>
      <p:sp>
        <p:nvSpPr>
          <p:cNvPr id="405" name="Google Shape;405;p44">
            <a:extLst>
              <a:ext uri="{FF2B5EF4-FFF2-40B4-BE49-F238E27FC236}">
                <a16:creationId xmlns:a16="http://schemas.microsoft.com/office/drawing/2014/main" id="{A19338BF-074C-AE55-FBFB-322320BB025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5" name="TextBox 4">
            <a:extLst>
              <a:ext uri="{FF2B5EF4-FFF2-40B4-BE49-F238E27FC236}">
                <a16:creationId xmlns:a16="http://schemas.microsoft.com/office/drawing/2014/main" id="{A5FD8DCC-6447-2B60-A662-7983E600FC63}"/>
              </a:ext>
            </a:extLst>
          </p:cNvPr>
          <p:cNvSpPr txBox="1"/>
          <p:nvPr/>
        </p:nvSpPr>
        <p:spPr>
          <a:xfrm>
            <a:off x="724830" y="1231776"/>
            <a:ext cx="4572000" cy="2893100"/>
          </a:xfrm>
          <a:prstGeom prst="rect">
            <a:avLst/>
          </a:prstGeom>
          <a:noFill/>
        </p:spPr>
        <p:txBody>
          <a:bodyPr wrap="square">
            <a:spAutoFit/>
          </a:bodyPr>
          <a:lstStyle/>
          <a:p>
            <a:pPr lvl="0"/>
            <a:r>
              <a:rPr lang="en-US" dirty="0"/>
              <a:t>Example 1:</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p>
          <a:p>
            <a:pPr lvl="1">
              <a:buSzPct val="100000"/>
              <a:buFont typeface="+mj-lt"/>
              <a:buAutoNum type="arabicPeriod"/>
            </a:pPr>
            <a:endParaRPr lang="en-US"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11A2E5D-8F12-A9C6-0DA5-17AF408863D1}"/>
              </a:ext>
            </a:extLst>
          </p:cNvPr>
          <p:cNvSpPr txBox="1"/>
          <p:nvPr/>
        </p:nvSpPr>
        <p:spPr>
          <a:xfrm>
            <a:off x="5058936" y="1231776"/>
            <a:ext cx="4572000" cy="2677656"/>
          </a:xfrm>
          <a:prstGeom prst="rect">
            <a:avLst/>
          </a:prstGeom>
          <a:noFill/>
        </p:spPr>
        <p:txBody>
          <a:bodyPr wrap="square">
            <a:spAutoFit/>
          </a:bodyPr>
          <a:lstStyle/>
          <a:p>
            <a:pPr lvl="0"/>
            <a:r>
              <a:rPr lang="en-US" dirty="0"/>
              <a:t>Example 2:</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a:latin typeface="Courier New" panose="02070309020205020404" pitchFamily="49" charset="0"/>
                <a:cs typeface="Courier New" panose="02070309020205020404" pitchFamily="49" charset="0"/>
                <a:sym typeface="Consolas"/>
              </a:rPr>
              <a:t>if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a:latin typeface="Courier New" panose="02070309020205020404" pitchFamily="49" charset="0"/>
                <a:cs typeface="Courier New" panose="02070309020205020404" pitchFamily="49" charset="0"/>
                <a:sym typeface="Consolas"/>
              </a:rPr>
              <a:t>if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a:latin typeface="Courier New" panose="02070309020205020404" pitchFamily="49" charset="0"/>
                <a:cs typeface="Courier New" panose="02070309020205020404" pitchFamily="49" charset="0"/>
                <a:sym typeface="Consolas"/>
              </a:rPr>
              <a:t>if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4004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D8D2A161-A6BF-830D-71A2-B05A26FF04A8}"/>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7A636E1A-8CD3-EA81-C50A-7EEA2FC3B7E9}"/>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CONDITIONAL STATEMENTS (CONT.)</a:t>
            </a:r>
          </a:p>
        </p:txBody>
      </p:sp>
      <p:sp>
        <p:nvSpPr>
          <p:cNvPr id="4" name="Text Placeholder 3">
            <a:extLst>
              <a:ext uri="{FF2B5EF4-FFF2-40B4-BE49-F238E27FC236}">
                <a16:creationId xmlns:a16="http://schemas.microsoft.com/office/drawing/2014/main" id="{65470882-9747-1D8B-DCF4-FE40743C6167}"/>
              </a:ext>
            </a:extLst>
          </p:cNvPr>
          <p:cNvSpPr>
            <a:spLocks noGrp="1"/>
          </p:cNvSpPr>
          <p:nvPr>
            <p:ph type="body" idx="1"/>
          </p:nvPr>
        </p:nvSpPr>
        <p:spPr>
          <a:xfrm>
            <a:off x="411480" y="1200149"/>
            <a:ext cx="7394374" cy="3429000"/>
          </a:xfrm>
        </p:spPr>
        <p:txBody>
          <a:bodyPr/>
          <a:lstStyle/>
          <a:p>
            <a:r>
              <a:rPr lang="en-US" dirty="0"/>
              <a:t>Conditional statements are expressions that evaluate to a Boolean value</a:t>
            </a:r>
          </a:p>
          <a:p>
            <a:endParaRPr lang="en-US" dirty="0"/>
          </a:p>
          <a:p>
            <a:r>
              <a:rPr lang="en-US" dirty="0"/>
              <a:t>They involve comparison operators (&lt;, &gt;, ==, !=, &lt;=, &gt;=) and logical operators (and, or, not)</a:t>
            </a:r>
          </a:p>
          <a:p>
            <a:endParaRPr lang="en-US" dirty="0"/>
          </a:p>
          <a:p>
            <a:r>
              <a:rPr lang="en-US" dirty="0"/>
              <a:t>Python relies on indentation (whitespace at the beginning of a line) to define code blocks</a:t>
            </a:r>
          </a:p>
          <a:p>
            <a:endParaRPr lang="en-US" dirty="0"/>
          </a:p>
          <a:p>
            <a:r>
              <a:rPr lang="en-US" dirty="0"/>
              <a:t>Incorrect indentation will lead to errors.</a:t>
            </a:r>
          </a:p>
          <a:p>
            <a:endParaRPr lang="en-US" dirty="0"/>
          </a:p>
          <a:p>
            <a:r>
              <a:rPr lang="en-US" dirty="0"/>
              <a:t>You can create Nested Conditional Statements to control the flow of code</a:t>
            </a:r>
          </a:p>
          <a:p>
            <a:endParaRPr lang="en-US" dirty="0"/>
          </a:p>
        </p:txBody>
      </p:sp>
    </p:spTree>
    <p:extLst>
      <p:ext uri="{BB962C8B-B14F-4D97-AF65-F5344CB8AC3E}">
        <p14:creationId xmlns:p14="http://schemas.microsoft.com/office/powerpoint/2010/main" val="3111964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5"/>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NESTED CONDITIONAL STATEMENTS	</a:t>
            </a:r>
          </a:p>
        </p:txBody>
      </p:sp>
      <p:sp>
        <p:nvSpPr>
          <p:cNvPr id="412" name="Google Shape;412;p45"/>
          <p:cNvSpPr txBox="1">
            <a:spLocks noGrp="1"/>
          </p:cNvSpPr>
          <p:nvPr>
            <p:ph type="body" idx="1"/>
          </p:nvPr>
        </p:nvSpPr>
        <p:spPr>
          <a:xfrm>
            <a:off x="411479" y="1200149"/>
            <a:ext cx="7248699" cy="3675266"/>
          </a:xfrm>
          <a:noFill/>
          <a:ln>
            <a:noFill/>
          </a:ln>
        </p:spPr>
        <p:txBody>
          <a:bodyPr spcFirstLastPara="1" wrap="square" lIns="91425" tIns="91425" rIns="91425" bIns="91425" anchor="t" anchorCtr="0">
            <a:normAutofit lnSpcReduction="10000"/>
          </a:bodyPr>
          <a:lstStyle/>
          <a:p>
            <a:pPr lvl="0"/>
            <a:r>
              <a:rPr lang="en-US" dirty="0"/>
              <a:t>You can place “if” or “if...else” statements inside other “if” or “else” blocks to create more complex decision structures.</a:t>
            </a:r>
          </a:p>
          <a:p>
            <a:pPr lvl="1"/>
            <a:endParaRPr lang="en-US" dirty="0">
              <a:sym typeface="Consolas"/>
            </a:endParaRPr>
          </a:p>
          <a:p>
            <a:pPr lvl="0"/>
            <a:r>
              <a:rPr lang="en-US" dirty="0"/>
              <a:t>Example:</a:t>
            </a:r>
          </a:p>
          <a:p>
            <a:pPr lvl="0"/>
            <a:endParaRPr lang="en-US" dirty="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weather = "rainy“</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temperature = 45</a:t>
            </a:r>
            <a:endParaRPr lang="en-US" sz="1100" dirty="0">
              <a:latin typeface="Courier New" panose="02070309020205020404" pitchFamily="49" charset="0"/>
              <a:cs typeface="Courier New" panose="02070309020205020404" pitchFamily="49" charset="0"/>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if weather == "rainy":</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if temperature &lt; 50:</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cold and rainy. Wear a jacket and bring an umbrella.")</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rainy but warm. Just bring an umbrella.")</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print("No rain today. Enjoy the weather!")</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2">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7"/>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EXERCISE - CONDITIONAL STATEMENTS</a:t>
            </a:r>
          </a:p>
        </p:txBody>
      </p:sp>
      <p:sp>
        <p:nvSpPr>
          <p:cNvPr id="424" name="Google Shape;424;p47"/>
          <p:cNvSpPr txBox="1">
            <a:spLocks noGrp="1"/>
          </p:cNvSpPr>
          <p:nvPr>
            <p:ph type="body" idx="1"/>
          </p:nvPr>
        </p:nvSpPr>
        <p:spPr>
          <a:xfrm>
            <a:off x="411479" y="1200149"/>
            <a:ext cx="6338725" cy="3429000"/>
          </a:xfrm>
          <a:noFill/>
          <a:ln>
            <a:noFill/>
          </a:ln>
        </p:spPr>
        <p:txBody>
          <a:bodyPr spcFirstLastPara="1" wrap="square" lIns="91425" tIns="91425" rIns="91425" bIns="91425" anchor="t" anchorCtr="0">
            <a:normAutofit/>
          </a:bodyPr>
          <a:lstStyle/>
          <a:p>
            <a:pPr lvl="0"/>
            <a:r>
              <a:rPr lang="en-US" dirty="0"/>
              <a:t>5 minutes</a:t>
            </a:r>
          </a:p>
          <a:p>
            <a:pPr lvl="0"/>
            <a:endParaRPr lang="en-US" dirty="0"/>
          </a:p>
          <a:p>
            <a:pPr lvl="0"/>
            <a:r>
              <a:rPr lang="en-US" dirty="0"/>
              <a:t>Write a script that asks a user for a number.  The script then checks the number and prints “positive,” “zero,” or “negative”</a:t>
            </a:r>
          </a:p>
          <a:p>
            <a:pPr lvl="0"/>
            <a:endParaRPr lang="en-US" dirty="0"/>
          </a:p>
          <a:p>
            <a:pPr lvl="0"/>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11D-DB1D-30FC-45A7-682F3F1599B6}"/>
              </a:ext>
            </a:extLst>
          </p:cNvPr>
          <p:cNvSpPr>
            <a:spLocks noGrp="1"/>
          </p:cNvSpPr>
          <p:nvPr>
            <p:ph type="title"/>
          </p:nvPr>
        </p:nvSpPr>
        <p:spPr/>
        <p:txBody>
          <a:bodyPr/>
          <a:lstStyle/>
          <a:p>
            <a:r>
              <a:rPr lang="en-US" dirty="0"/>
              <a:t>Hands-On #1</a:t>
            </a:r>
          </a:p>
        </p:txBody>
      </p:sp>
      <p:sp>
        <p:nvSpPr>
          <p:cNvPr id="3" name="Text Placeholder 2">
            <a:extLst>
              <a:ext uri="{FF2B5EF4-FFF2-40B4-BE49-F238E27FC236}">
                <a16:creationId xmlns:a16="http://schemas.microsoft.com/office/drawing/2014/main" id="{98D4B51C-BE99-A72D-2F4F-B1C88170B065}"/>
              </a:ext>
            </a:extLst>
          </p:cNvPr>
          <p:cNvSpPr>
            <a:spLocks noGrp="1"/>
          </p:cNvSpPr>
          <p:nvPr>
            <p:ph type="body" idx="1"/>
          </p:nvPr>
        </p:nvSpPr>
        <p:spPr/>
        <p:txBody>
          <a:bodyPr/>
          <a:lstStyle/>
          <a:p>
            <a:r>
              <a:rPr lang="en-US" dirty="0"/>
              <a:t>Take 30 minutes to work through Hands-On #1</a:t>
            </a:r>
          </a:p>
        </p:txBody>
      </p:sp>
    </p:spTree>
    <p:extLst>
      <p:ext uri="{BB962C8B-B14F-4D97-AF65-F5344CB8AC3E}">
        <p14:creationId xmlns:p14="http://schemas.microsoft.com/office/powerpoint/2010/main" val="3921472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27686264-9F0F-C53B-35D0-337A26761C77}"/>
            </a:ext>
          </a:extLst>
        </p:cNvPr>
        <p:cNvGrpSpPr/>
        <p:nvPr/>
      </p:nvGrpSpPr>
      <p:grpSpPr>
        <a:xfrm>
          <a:off x="0" y="0"/>
          <a:ext cx="0" cy="0"/>
          <a:chOff x="0" y="0"/>
          <a:chExt cx="0" cy="0"/>
        </a:xfrm>
      </p:grpSpPr>
      <p:sp>
        <p:nvSpPr>
          <p:cNvPr id="423" name="Google Shape;423;p47">
            <a:extLst>
              <a:ext uri="{FF2B5EF4-FFF2-40B4-BE49-F238E27FC236}">
                <a16:creationId xmlns:a16="http://schemas.microsoft.com/office/drawing/2014/main" id="{62AE9FF2-B4A7-E576-6F31-AA2C75EBB183}"/>
              </a:ext>
            </a:extLst>
          </p:cNvPr>
          <p:cNvSpPr txBox="1">
            <a:spLocks noGrp="1"/>
          </p:cNvSpPr>
          <p:nvPr>
            <p:ph type="title"/>
          </p:nvPr>
        </p:nvSpPr>
        <p:spPr>
          <a:xfrm>
            <a:off x="2671461" y="2293528"/>
            <a:ext cx="6173470" cy="685800"/>
          </a:xfrm>
          <a:noFill/>
          <a:ln>
            <a:noFill/>
          </a:ln>
        </p:spPr>
        <p:txBody>
          <a:bodyPr spcFirstLastPara="1" wrap="square" lIns="91425" tIns="91425" rIns="91425" bIns="91425" anchor="t" anchorCtr="0">
            <a:normAutofit/>
          </a:bodyPr>
          <a:lstStyle/>
          <a:p>
            <a:pPr lvl="0"/>
            <a:r>
              <a:rPr lang="en-US" dirty="0"/>
              <a:t>Take a 5 minute break</a:t>
            </a:r>
          </a:p>
        </p:txBody>
      </p:sp>
      <p:sp>
        <p:nvSpPr>
          <p:cNvPr id="424" name="Google Shape;424;p47">
            <a:extLst>
              <a:ext uri="{FF2B5EF4-FFF2-40B4-BE49-F238E27FC236}">
                <a16:creationId xmlns:a16="http://schemas.microsoft.com/office/drawing/2014/main" id="{B3759608-47D9-7357-83B3-580B310BA918}"/>
              </a:ext>
            </a:extLst>
          </p:cNvPr>
          <p:cNvSpPr txBox="1">
            <a:spLocks noGrp="1"/>
          </p:cNvSpPr>
          <p:nvPr>
            <p:ph type="body" idx="1"/>
          </p:nvPr>
        </p:nvSpPr>
        <p:spPr>
          <a:xfrm>
            <a:off x="411479" y="1200149"/>
            <a:ext cx="6338725" cy="3429000"/>
          </a:xfrm>
          <a:noFill/>
          <a:ln>
            <a:noFill/>
          </a:ln>
        </p:spPr>
        <p:txBody>
          <a:bodyPr spcFirstLastPara="1" wrap="square" lIns="91425" tIns="91425" rIns="91425" bIns="91425" anchor="t" anchorCtr="0">
            <a:normAutofit/>
          </a:bodyPr>
          <a:lstStyle/>
          <a:p>
            <a:pPr lvl="0"/>
            <a:endParaRPr lang="en-US" dirty="0"/>
          </a:p>
          <a:p>
            <a:pPr lvl="0"/>
            <a:endParaRPr lang="en-US" dirty="0"/>
          </a:p>
        </p:txBody>
      </p:sp>
    </p:spTree>
    <p:extLst>
      <p:ext uri="{BB962C8B-B14F-4D97-AF65-F5344CB8AC3E}">
        <p14:creationId xmlns:p14="http://schemas.microsoft.com/office/powerpoint/2010/main" val="167437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B517-BAE6-0520-187A-58FB7CE5E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B0779-45B1-6615-2A89-4BD9ABFE7B98}"/>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17D25DE2-2282-355D-AF5E-B7D1D7C5989A}"/>
              </a:ext>
            </a:extLst>
          </p:cNvPr>
          <p:cNvSpPr>
            <a:spLocks noGrp="1"/>
          </p:cNvSpPr>
          <p:nvPr>
            <p:ph type="body" idx="1"/>
          </p:nvPr>
        </p:nvSpPr>
        <p:spPr>
          <a:xfrm>
            <a:off x="411479" y="1200149"/>
            <a:ext cx="7825555" cy="3429000"/>
          </a:xfrm>
        </p:spPr>
        <p:txBody>
          <a:bodyPr/>
          <a:lstStyle/>
          <a:p>
            <a:r>
              <a:rPr lang="en-US" dirty="0"/>
              <a:t>Currently, they run from left to right, top to bottom, just like reading a book…</a:t>
            </a:r>
          </a:p>
          <a:p>
            <a:endParaRPr lang="en-US" dirty="0"/>
          </a:p>
          <a:p>
            <a:r>
              <a:rPr lang="en-US" dirty="0"/>
              <a:t>We also know how to make certain sections of code to run if a condition is met (if it is True!)</a:t>
            </a:r>
          </a:p>
          <a:p>
            <a:endParaRPr lang="en-US" dirty="0"/>
          </a:p>
          <a:p>
            <a:r>
              <a:rPr lang="en-US" dirty="0"/>
              <a:t>What if we want to run certain sections of code over and over again…</a:t>
            </a:r>
          </a:p>
          <a:p>
            <a:pPr lvl="1"/>
            <a:r>
              <a:rPr lang="en-US" dirty="0"/>
              <a:t>For a defined number of iterations (definitive loop --- FOR LOOP)</a:t>
            </a:r>
          </a:p>
          <a:p>
            <a:pPr lvl="1"/>
            <a:r>
              <a:rPr lang="en-US" dirty="0"/>
              <a:t>For an undefined number of iterations, until a condition is met (indefinite loop – WHILE LOOP)</a:t>
            </a:r>
          </a:p>
        </p:txBody>
      </p:sp>
    </p:spTree>
    <p:extLst>
      <p:ext uri="{BB962C8B-B14F-4D97-AF65-F5344CB8AC3E}">
        <p14:creationId xmlns:p14="http://schemas.microsoft.com/office/powerpoint/2010/main" val="215761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DDEC-3978-51CD-BD22-ED3E9C030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DC306-A650-C233-DDAF-5B928EF558B1}"/>
              </a:ext>
            </a:extLst>
          </p:cNvPr>
          <p:cNvSpPr>
            <a:spLocks noGrp="1"/>
          </p:cNvSpPr>
          <p:nvPr>
            <p:ph type="title"/>
          </p:nvPr>
        </p:nvSpPr>
        <p:spPr/>
        <p:txBody>
          <a:bodyPr/>
          <a:lstStyle/>
          <a:p>
            <a:r>
              <a:rPr lang="en-US" dirty="0"/>
              <a:t>LOOPS!!!</a:t>
            </a:r>
          </a:p>
        </p:txBody>
      </p:sp>
    </p:spTree>
    <p:extLst>
      <p:ext uri="{BB962C8B-B14F-4D97-AF65-F5344CB8AC3E}">
        <p14:creationId xmlns:p14="http://schemas.microsoft.com/office/powerpoint/2010/main" val="1883184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115-6D7B-D748-EB43-E78AD2048477}"/>
              </a:ext>
            </a:extLst>
          </p:cNvPr>
          <p:cNvSpPr>
            <a:spLocks noGrp="1"/>
          </p:cNvSpPr>
          <p:nvPr>
            <p:ph type="title"/>
          </p:nvPr>
        </p:nvSpPr>
        <p:spPr/>
        <p:txBody>
          <a:bodyPr/>
          <a:lstStyle/>
          <a:p>
            <a:r>
              <a:rPr lang="en-US" dirty="0"/>
              <a:t>But first, a new datatype!</a:t>
            </a:r>
          </a:p>
        </p:txBody>
      </p:sp>
      <p:sp>
        <p:nvSpPr>
          <p:cNvPr id="6" name="Text Placeholder 5">
            <a:extLst>
              <a:ext uri="{FF2B5EF4-FFF2-40B4-BE49-F238E27FC236}">
                <a16:creationId xmlns:a16="http://schemas.microsoft.com/office/drawing/2014/main" id="{7240E535-D273-A5E5-DBFF-53228CE32AFF}"/>
              </a:ext>
            </a:extLst>
          </p:cNvPr>
          <p:cNvSpPr>
            <a:spLocks noGrp="1"/>
          </p:cNvSpPr>
          <p:nvPr>
            <p:ph type="body" idx="1"/>
          </p:nvPr>
        </p:nvSpPr>
        <p:spPr>
          <a:xfrm>
            <a:off x="411479" y="1200150"/>
            <a:ext cx="5625048" cy="3429000"/>
          </a:xfrm>
        </p:spPr>
        <p:txBody>
          <a:bodyPr/>
          <a:lstStyle/>
          <a:p>
            <a:pPr marL="114300" indent="0">
              <a:buNone/>
            </a:pPr>
            <a:r>
              <a:rPr lang="en-US" sz="1800" dirty="0" err="1"/>
              <a:t>an_example_list</a:t>
            </a:r>
            <a:r>
              <a:rPr lang="en-US" sz="1800" dirty="0"/>
              <a:t> = [1, 2, 3, “Hello”, “Goodbye”, 6.0]</a:t>
            </a:r>
          </a:p>
        </p:txBody>
      </p:sp>
    </p:spTree>
    <p:extLst>
      <p:ext uri="{BB962C8B-B14F-4D97-AF65-F5344CB8AC3E}">
        <p14:creationId xmlns:p14="http://schemas.microsoft.com/office/powerpoint/2010/main" val="136545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5543-07C4-334B-6185-CC9DC50A8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1A54-D569-1977-A274-58FF58DA3B37}"/>
              </a:ext>
            </a:extLst>
          </p:cNvPr>
          <p:cNvSpPr>
            <a:spLocks noGrp="1"/>
          </p:cNvSpPr>
          <p:nvPr>
            <p:ph type="title"/>
          </p:nvPr>
        </p:nvSpPr>
        <p:spPr/>
        <p:txBody>
          <a:bodyPr/>
          <a:lstStyle/>
          <a:p>
            <a:r>
              <a:rPr lang="en-US" dirty="0"/>
              <a:t>The List [ ]</a:t>
            </a:r>
          </a:p>
        </p:txBody>
      </p:sp>
      <p:sp>
        <p:nvSpPr>
          <p:cNvPr id="4" name="Text Placeholder 3">
            <a:extLst>
              <a:ext uri="{FF2B5EF4-FFF2-40B4-BE49-F238E27FC236}">
                <a16:creationId xmlns:a16="http://schemas.microsoft.com/office/drawing/2014/main" id="{E0568267-EE26-8BBB-B8C0-5CBC15FE65B7}"/>
              </a:ext>
            </a:extLst>
          </p:cNvPr>
          <p:cNvSpPr>
            <a:spLocks noGrp="1"/>
          </p:cNvSpPr>
          <p:nvPr>
            <p:ph type="body" idx="1"/>
          </p:nvPr>
        </p:nvSpPr>
        <p:spPr/>
        <p:txBody>
          <a:bodyPr/>
          <a:lstStyle/>
          <a:p>
            <a:r>
              <a:rPr lang="en-US" dirty="0"/>
              <a:t>The humble list</a:t>
            </a:r>
          </a:p>
          <a:p>
            <a:pPr lvl="0"/>
            <a:r>
              <a:rPr lang="en-US" dirty="0"/>
              <a:t>Example:</a:t>
            </a:r>
            <a:endParaRPr lang="en-US" dirty="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['hello’]</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('goodbye’)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(5)</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(True)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['hello', 'goodbye', 5, True]</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startAt="6"/>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len</a:t>
            </a:r>
            <a:r>
              <a:rPr lang="en-US" sz="1100" dirty="0">
                <a:latin typeface="Courier New" panose="02070309020205020404" pitchFamily="49" charset="0"/>
                <a:cs typeface="Courier New" panose="02070309020205020404" pitchFamily="49" charset="0"/>
                <a:sym typeface="Consolas"/>
              </a:rPr>
              <a: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4</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endParaRPr lang="en-US" dirty="0"/>
          </a:p>
        </p:txBody>
      </p:sp>
    </p:spTree>
    <p:extLst>
      <p:ext uri="{BB962C8B-B14F-4D97-AF65-F5344CB8AC3E}">
        <p14:creationId xmlns:p14="http://schemas.microsoft.com/office/powerpoint/2010/main" val="223622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8648-1086-4262-71FC-46A374A0C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21833-BDBF-57C2-597B-7BE5091DB64A}"/>
              </a:ext>
            </a:extLst>
          </p:cNvPr>
          <p:cNvSpPr>
            <a:spLocks noGrp="1"/>
          </p:cNvSpPr>
          <p:nvPr>
            <p:ph type="title"/>
          </p:nvPr>
        </p:nvSpPr>
        <p:spPr/>
        <p:txBody>
          <a:bodyPr/>
          <a:lstStyle/>
          <a:p>
            <a:r>
              <a:rPr lang="en-US" dirty="0"/>
              <a:t>List Indexing</a:t>
            </a:r>
          </a:p>
        </p:txBody>
      </p:sp>
      <p:sp>
        <p:nvSpPr>
          <p:cNvPr id="3" name="Text Placeholder 3">
            <a:extLst>
              <a:ext uri="{FF2B5EF4-FFF2-40B4-BE49-F238E27FC236}">
                <a16:creationId xmlns:a16="http://schemas.microsoft.com/office/drawing/2014/main" id="{36FBED2A-1496-7B50-48B5-7D3423794175}"/>
              </a:ext>
            </a:extLst>
          </p:cNvPr>
          <p:cNvSpPr>
            <a:spLocks noGrp="1"/>
          </p:cNvSpPr>
          <p:nvPr>
            <p:ph type="body" idx="1"/>
          </p:nvPr>
        </p:nvSpPr>
        <p:spPr>
          <a:xfrm>
            <a:off x="411478" y="1200150"/>
            <a:ext cx="6606355" cy="3429000"/>
          </a:xfrm>
        </p:spPr>
        <p:txBody>
          <a:bodyPr/>
          <a:lstStyle/>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[“Python”, “is”, “oh”, “so”, “fun”]</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Index	0       1     2     3     4</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-5      -4    -3    -2    -1</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[0]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[4]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[-1]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[5] = ?</a:t>
            </a:r>
          </a:p>
          <a:p>
            <a:endParaRPr lang="en-US" dirty="0"/>
          </a:p>
        </p:txBody>
      </p:sp>
      <p:sp>
        <p:nvSpPr>
          <p:cNvPr id="5" name="TextBox 4">
            <a:extLst>
              <a:ext uri="{FF2B5EF4-FFF2-40B4-BE49-F238E27FC236}">
                <a16:creationId xmlns:a16="http://schemas.microsoft.com/office/drawing/2014/main" id="{79CCF94A-ED45-315D-5A28-8486A6688A70}"/>
              </a:ext>
            </a:extLst>
          </p:cNvPr>
          <p:cNvSpPr txBox="1"/>
          <p:nvPr/>
        </p:nvSpPr>
        <p:spPr>
          <a:xfrm>
            <a:off x="2698594" y="2631688"/>
            <a:ext cx="4423318" cy="2246769"/>
          </a:xfrm>
          <a:prstGeom prst="rect">
            <a:avLst/>
          </a:prstGeom>
          <a:noFill/>
        </p:spPr>
        <p:txBody>
          <a:bodyPr wrap="square" rtlCol="0">
            <a:spAutoFit/>
          </a:bodyPr>
          <a:lstStyle/>
          <a:p>
            <a:r>
              <a:rPr lang="en-US" dirty="0"/>
              <a:t>Python</a:t>
            </a:r>
          </a:p>
          <a:p>
            <a:endParaRPr lang="en-US" dirty="0"/>
          </a:p>
          <a:p>
            <a:r>
              <a:rPr lang="en-US" dirty="0"/>
              <a:t>fun</a:t>
            </a:r>
          </a:p>
          <a:p>
            <a:endParaRPr lang="en-US" dirty="0"/>
          </a:p>
          <a:p>
            <a:r>
              <a:rPr lang="en-US" dirty="0"/>
              <a:t>fun</a:t>
            </a:r>
          </a:p>
          <a:p>
            <a:endParaRPr lang="en-US" dirty="0"/>
          </a:p>
          <a:p>
            <a:r>
              <a:rPr lang="en-US" dirty="0" err="1"/>
              <a:t>indexError</a:t>
            </a:r>
            <a:endParaRPr lang="en-US" dirty="0"/>
          </a:p>
          <a:p>
            <a:endParaRPr lang="en-US" dirty="0"/>
          </a:p>
          <a:p>
            <a:r>
              <a:rPr lang="en-US" dirty="0"/>
              <a:t>Let’s launch the Python interpreter and verify this!  Instructor Note:  Demonstrate some list methods!</a:t>
            </a:r>
          </a:p>
        </p:txBody>
      </p:sp>
    </p:spTree>
    <p:extLst>
      <p:ext uri="{BB962C8B-B14F-4D97-AF65-F5344CB8AC3E}">
        <p14:creationId xmlns:p14="http://schemas.microsoft.com/office/powerpoint/2010/main" val="994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9EFB2-F7FC-7E25-F9D1-F4C6AFE5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84A9B-3974-F439-BC12-89181A66BF33}"/>
              </a:ext>
            </a:extLst>
          </p:cNvPr>
          <p:cNvSpPr>
            <a:spLocks noGrp="1"/>
          </p:cNvSpPr>
          <p:nvPr>
            <p:ph type="title"/>
          </p:nvPr>
        </p:nvSpPr>
        <p:spPr/>
        <p:txBody>
          <a:bodyPr/>
          <a:lstStyle/>
          <a:p>
            <a:r>
              <a:rPr lang="en-US" dirty="0"/>
              <a:t>List Methods</a:t>
            </a:r>
          </a:p>
        </p:txBody>
      </p:sp>
      <p:pic>
        <p:nvPicPr>
          <p:cNvPr id="7" name="Picture 6">
            <a:extLst>
              <a:ext uri="{FF2B5EF4-FFF2-40B4-BE49-F238E27FC236}">
                <a16:creationId xmlns:a16="http://schemas.microsoft.com/office/drawing/2014/main" id="{E23D8DE7-DCAA-5695-4AA6-AF219C606D62}"/>
              </a:ext>
            </a:extLst>
          </p:cNvPr>
          <p:cNvPicPr>
            <a:picLocks noChangeAspect="1"/>
          </p:cNvPicPr>
          <p:nvPr/>
        </p:nvPicPr>
        <p:blipFill>
          <a:blip r:embed="rId2"/>
          <a:stretch>
            <a:fillRect/>
          </a:stretch>
        </p:blipFill>
        <p:spPr>
          <a:xfrm>
            <a:off x="2772936" y="820078"/>
            <a:ext cx="3371698" cy="3892444"/>
          </a:xfrm>
          <a:prstGeom prst="rect">
            <a:avLst/>
          </a:prstGeom>
        </p:spPr>
      </p:pic>
    </p:spTree>
    <p:extLst>
      <p:ext uri="{BB962C8B-B14F-4D97-AF65-F5344CB8AC3E}">
        <p14:creationId xmlns:p14="http://schemas.microsoft.com/office/powerpoint/2010/main" val="2255320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F3848A5-FA93-5EAB-CDEF-E81F4F83D37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5A5465B4-05D9-5E2A-8D07-30902D268BCD}"/>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FF09CF47-E4D0-A9A6-70A7-C9F3998978AF}"/>
              </a:ext>
            </a:extLst>
          </p:cNvPr>
          <p:cNvSpPr txBox="1">
            <a:spLocks noGrp="1"/>
          </p:cNvSpPr>
          <p:nvPr>
            <p:ph type="body" idx="1"/>
          </p:nvPr>
        </p:nvSpPr>
        <p:spPr>
          <a:noFill/>
          <a:ln>
            <a:noFill/>
          </a:ln>
        </p:spPr>
        <p:txBody>
          <a:bodyPr spcFirstLastPara="1" wrap="square" lIns="91425" tIns="91425" rIns="91425" bIns="91425" anchor="t" anchorCtr="0">
            <a:normAutofit/>
          </a:bodyPr>
          <a:lstStyle/>
          <a:p>
            <a:pPr>
              <a:buSzPct val="100000"/>
            </a:pPr>
            <a:r>
              <a:rPr lang="en-US" dirty="0"/>
              <a:t>A built-in Python function</a:t>
            </a:r>
          </a:p>
          <a:p>
            <a:pPr>
              <a:buSzPct val="100000"/>
            </a:pPr>
            <a:endParaRPr lang="en-US" dirty="0"/>
          </a:p>
          <a:p>
            <a:pPr>
              <a:buSzPct val="100000"/>
            </a:pPr>
            <a:r>
              <a:rPr lang="en-US" dirty="0"/>
              <a:t>Output is a “range object,” which is an immutable sequence type and memory efficient compared to a list</a:t>
            </a:r>
          </a:p>
        </p:txBody>
      </p:sp>
    </p:spTree>
    <p:extLst>
      <p:ext uri="{BB962C8B-B14F-4D97-AF65-F5344CB8AC3E}">
        <p14:creationId xmlns:p14="http://schemas.microsoft.com/office/powerpoint/2010/main" val="1825768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DDFC08D-9AE7-5F3E-C21A-80367002FD44}"/>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8E04A33D-241C-A68B-FB3F-0C426EB5D382}"/>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E12BD7CF-E879-80F8-BF0C-9ADF29608AA6}"/>
              </a:ext>
            </a:extLst>
          </p:cNvPr>
          <p:cNvSpPr txBox="1">
            <a:spLocks noGrp="1"/>
          </p:cNvSpPr>
          <p:nvPr>
            <p:ph type="body" idx="1"/>
          </p:nvPr>
        </p:nvSpPr>
        <p:spPr>
          <a:xfrm>
            <a:off x="411479" y="1200149"/>
            <a:ext cx="836081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range(stop)</a:t>
            </a:r>
          </a:p>
          <a:p>
            <a:pPr lvl="1">
              <a:buSzPct val="100000"/>
            </a:pPr>
            <a:r>
              <a:rPr lang="en-US" dirty="0"/>
              <a:t>Generates a sequence of numbers starting from 0 (default) up to, </a:t>
            </a:r>
            <a:r>
              <a:rPr lang="en-US" b="1" dirty="0"/>
              <a:t>but not including</a:t>
            </a:r>
            <a:r>
              <a:rPr lang="en-US" dirty="0"/>
              <a:t>, the stop value</a:t>
            </a:r>
          </a:p>
          <a:p>
            <a:pPr lvl="1">
              <a:buSzPct val="100000"/>
            </a:pPr>
            <a:r>
              <a:rPr lang="en-US" dirty="0"/>
              <a:t>The numbers increment by 1 (default)</a:t>
            </a:r>
          </a:p>
          <a:p>
            <a:pPr lvl="1">
              <a:buSzPct val="100000"/>
            </a:pPr>
            <a:r>
              <a:rPr lang="en-US" dirty="0"/>
              <a:t>Examples: </a:t>
            </a:r>
          </a:p>
          <a:p>
            <a:pPr lvl="2">
              <a:buSzPct val="100000"/>
            </a:pPr>
            <a:r>
              <a:rPr lang="en-US" dirty="0"/>
              <a:t>range(5) generates 0, 1, 2, 3, 4</a:t>
            </a:r>
          </a:p>
          <a:p>
            <a:pPr lvl="2">
              <a:buSzPct val="100000"/>
            </a:pPr>
            <a:r>
              <a:rPr lang="en-US" dirty="0"/>
              <a:t>range(10) generates ?</a:t>
            </a:r>
          </a:p>
          <a:p>
            <a:pPr lvl="2">
              <a:buSzPct val="100000"/>
            </a:pPr>
            <a:r>
              <a:rPr lang="en-US" dirty="0"/>
              <a:t>range(3) generates ?</a:t>
            </a:r>
          </a:p>
        </p:txBody>
      </p:sp>
      <p:sp>
        <p:nvSpPr>
          <p:cNvPr id="3" name="TextBox 2">
            <a:extLst>
              <a:ext uri="{FF2B5EF4-FFF2-40B4-BE49-F238E27FC236}">
                <a16:creationId xmlns:a16="http://schemas.microsoft.com/office/drawing/2014/main" id="{9A0CD4D7-8299-8B64-0827-5C6F64EE04D1}"/>
              </a:ext>
            </a:extLst>
          </p:cNvPr>
          <p:cNvSpPr txBox="1"/>
          <p:nvPr/>
        </p:nvSpPr>
        <p:spPr>
          <a:xfrm>
            <a:off x="3862039" y="2477799"/>
            <a:ext cx="4572000" cy="523220"/>
          </a:xfrm>
          <a:prstGeom prst="rect">
            <a:avLst/>
          </a:prstGeom>
          <a:noFill/>
        </p:spPr>
        <p:txBody>
          <a:bodyPr wrap="square">
            <a:spAutoFit/>
          </a:bodyPr>
          <a:lstStyle/>
          <a:p>
            <a:r>
              <a:rPr lang="en-US" b="1" dirty="0">
                <a:solidFill>
                  <a:srgbClr val="00B050"/>
                </a:solidFill>
              </a:rPr>
              <a:t>0, 1, 2, 3, 4, 5, 6, 7, 8, 9</a:t>
            </a:r>
          </a:p>
          <a:p>
            <a:r>
              <a:rPr lang="en-US" b="1" dirty="0">
                <a:solidFill>
                  <a:srgbClr val="00B050"/>
                </a:solidFill>
              </a:rPr>
              <a:t>0, 1, 2</a:t>
            </a:r>
          </a:p>
        </p:txBody>
      </p:sp>
    </p:spTree>
    <p:extLst>
      <p:ext uri="{BB962C8B-B14F-4D97-AF65-F5344CB8AC3E}">
        <p14:creationId xmlns:p14="http://schemas.microsoft.com/office/powerpoint/2010/main" val="410781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9"/>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p:cNvSpPr txBox="1">
            <a:spLocks noGrp="1"/>
          </p:cNvSpPr>
          <p:nvPr>
            <p:ph type="body" idx="1"/>
          </p:nvPr>
        </p:nvSpPr>
        <p:spPr>
          <a:xfrm>
            <a:off x="411479" y="1200149"/>
            <a:ext cx="818239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range(start, stop)</a:t>
            </a:r>
          </a:p>
          <a:p>
            <a:pPr lvl="1">
              <a:buSzPct val="100000"/>
            </a:pPr>
            <a:r>
              <a:rPr lang="en-US" dirty="0"/>
              <a:t>Generates a sequence of numbers starting from the start value (inclusive) up to, but not including, the stop value</a:t>
            </a:r>
          </a:p>
          <a:p>
            <a:pPr lvl="1">
              <a:buSzPct val="100000"/>
            </a:pPr>
            <a:r>
              <a:rPr lang="en-US" dirty="0"/>
              <a:t>The numbers increment by 1 (default)</a:t>
            </a:r>
          </a:p>
          <a:p>
            <a:pPr lvl="1">
              <a:buSzPct val="100000"/>
            </a:pPr>
            <a:r>
              <a:rPr lang="en-US" dirty="0"/>
              <a:t>Examples: </a:t>
            </a:r>
          </a:p>
          <a:p>
            <a:pPr lvl="2">
              <a:buSzPct val="100000"/>
            </a:pPr>
            <a:r>
              <a:rPr lang="en-US" dirty="0"/>
              <a:t>range(2, 7) generates 2, 3, 4, 5, 6</a:t>
            </a:r>
          </a:p>
          <a:p>
            <a:pPr lvl="2">
              <a:buSzPct val="100000"/>
            </a:pPr>
            <a:r>
              <a:rPr lang="en-US" dirty="0"/>
              <a:t>range(1, 100) generates </a:t>
            </a:r>
          </a:p>
          <a:p>
            <a:pPr lvl="2">
              <a:buSzPct val="100000"/>
            </a:pPr>
            <a:r>
              <a:rPr lang="en-US" dirty="0"/>
              <a:t>range(10, 21) generates </a:t>
            </a:r>
          </a:p>
        </p:txBody>
      </p:sp>
      <p:sp>
        <p:nvSpPr>
          <p:cNvPr id="2" name="TextBox 1">
            <a:extLst>
              <a:ext uri="{FF2B5EF4-FFF2-40B4-BE49-F238E27FC236}">
                <a16:creationId xmlns:a16="http://schemas.microsoft.com/office/drawing/2014/main" id="{7AAA458B-F84C-C133-AD3B-53EFD7BE8935}"/>
              </a:ext>
            </a:extLst>
          </p:cNvPr>
          <p:cNvSpPr txBox="1"/>
          <p:nvPr/>
        </p:nvSpPr>
        <p:spPr>
          <a:xfrm>
            <a:off x="3936379" y="2719946"/>
            <a:ext cx="4572000" cy="523220"/>
          </a:xfrm>
          <a:prstGeom prst="rect">
            <a:avLst/>
          </a:prstGeom>
          <a:noFill/>
        </p:spPr>
        <p:txBody>
          <a:bodyPr wrap="square">
            <a:spAutoFit/>
          </a:bodyPr>
          <a:lstStyle/>
          <a:p>
            <a:r>
              <a:rPr lang="en-US" b="1" dirty="0">
                <a:solidFill>
                  <a:srgbClr val="00B050"/>
                </a:solidFill>
              </a:rPr>
              <a:t>1, 2, 3, 4 …. 97, 98, 99</a:t>
            </a:r>
          </a:p>
          <a:p>
            <a:r>
              <a:rPr lang="en-US" b="1" dirty="0">
                <a:solidFill>
                  <a:srgbClr val="00B050"/>
                </a:solidFill>
              </a:rPr>
              <a:t>10, 11, 12… 18, 19,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79911C0-F928-DF2C-F6DB-8D78530387E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90F491D4-E522-393F-52F0-369A66C98BB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BA2331C2-1A7C-35FA-DE34-AB4BEFAAFFC9}"/>
              </a:ext>
            </a:extLst>
          </p:cNvPr>
          <p:cNvSpPr txBox="1">
            <a:spLocks noGrp="1"/>
          </p:cNvSpPr>
          <p:nvPr>
            <p:ph type="body" idx="1"/>
          </p:nvPr>
        </p:nvSpPr>
        <p:spPr>
          <a:xfrm>
            <a:off x="411480" y="1200149"/>
            <a:ext cx="7007798" cy="3429000"/>
          </a:xfrm>
          <a:noFill/>
          <a:ln>
            <a:noFill/>
          </a:ln>
        </p:spPr>
        <p:txBody>
          <a:bodyPr spcFirstLastPara="1" wrap="square" lIns="91425" tIns="91425" rIns="91425" bIns="91425" anchor="t" anchorCtr="0">
            <a:normAutofit/>
          </a:bodyPr>
          <a:lstStyle/>
          <a:p>
            <a:pPr marL="114300" indent="0">
              <a:buSzPct val="100000"/>
              <a:buNone/>
            </a:pPr>
            <a:r>
              <a:rPr lang="en-US" dirty="0">
                <a:latin typeface="Courier New" panose="02070309020205020404" pitchFamily="49" charset="0"/>
                <a:cs typeface="Courier New" panose="02070309020205020404" pitchFamily="49" charset="0"/>
              </a:rPr>
              <a:t>range(start, stop, step)</a:t>
            </a:r>
          </a:p>
          <a:p>
            <a:pPr lvl="1">
              <a:buSzPct val="100000"/>
            </a:pPr>
            <a:r>
              <a:rPr lang="en-US" dirty="0"/>
              <a:t>Generates a sequence of numbers starting from the start value (inclusive) up to, but not including, the stop value</a:t>
            </a:r>
          </a:p>
          <a:p>
            <a:pPr lvl="1">
              <a:buSzPct val="100000"/>
            </a:pPr>
            <a:r>
              <a:rPr lang="en-US" dirty="0"/>
              <a:t>The numbers increment or decrement by the step value (integer!)</a:t>
            </a:r>
          </a:p>
          <a:p>
            <a:pPr lvl="1">
              <a:buSzPct val="100000"/>
            </a:pPr>
            <a:r>
              <a:rPr lang="en-US" dirty="0"/>
              <a:t>If step is positive, it increments. If step is negative, it decrements (for counting backwards).</a:t>
            </a:r>
          </a:p>
          <a:p>
            <a:pPr lvl="1">
              <a:buSzPct val="100000"/>
            </a:pPr>
            <a:r>
              <a:rPr lang="en-US" dirty="0"/>
              <a:t>step cannot be 0, as it would lead to an infinite loop and raise a </a:t>
            </a:r>
            <a:r>
              <a:rPr lang="en-US" dirty="0" err="1"/>
              <a:t>ValueError</a:t>
            </a:r>
            <a:endParaRPr lang="en-US" dirty="0"/>
          </a:p>
          <a:p>
            <a:pPr lvl="1">
              <a:buSzPct val="100000"/>
            </a:pPr>
            <a:r>
              <a:rPr lang="en-US" dirty="0"/>
              <a:t>Example 1: range(1, 10, 2) generates 1, 3, 5, 7, 9</a:t>
            </a:r>
          </a:p>
          <a:p>
            <a:pPr lvl="1">
              <a:buSzPct val="100000"/>
            </a:pPr>
            <a:r>
              <a:rPr lang="en-US" dirty="0"/>
              <a:t>Example 2: range(5, 0, -1) generates 5, 4, 3, 2, 1</a:t>
            </a:r>
          </a:p>
          <a:p>
            <a:pPr lvl="1">
              <a:buSzPct val="100000"/>
            </a:pPr>
            <a:r>
              <a:rPr lang="en-US" dirty="0"/>
              <a:t>Example 3: range(1, 101, 2) generates ?</a:t>
            </a:r>
          </a:p>
        </p:txBody>
      </p:sp>
      <p:sp>
        <p:nvSpPr>
          <p:cNvPr id="2" name="TextBox 1">
            <a:extLst>
              <a:ext uri="{FF2B5EF4-FFF2-40B4-BE49-F238E27FC236}">
                <a16:creationId xmlns:a16="http://schemas.microsoft.com/office/drawing/2014/main" id="{8B4DC67E-BEA7-4C57-24F5-6769E7663A9B}"/>
              </a:ext>
            </a:extLst>
          </p:cNvPr>
          <p:cNvSpPr txBox="1"/>
          <p:nvPr/>
        </p:nvSpPr>
        <p:spPr>
          <a:xfrm>
            <a:off x="4460488" y="3366717"/>
            <a:ext cx="4683512" cy="307777"/>
          </a:xfrm>
          <a:prstGeom prst="rect">
            <a:avLst/>
          </a:prstGeom>
          <a:noFill/>
        </p:spPr>
        <p:txBody>
          <a:bodyPr wrap="square">
            <a:spAutoFit/>
          </a:bodyPr>
          <a:lstStyle/>
          <a:p>
            <a:r>
              <a:rPr lang="en-US" b="1" dirty="0">
                <a:solidFill>
                  <a:srgbClr val="00B050"/>
                </a:solidFill>
              </a:rPr>
              <a:t>2, 4, 6, 8… 96, 98, 100    (all even numbers up to 100!)</a:t>
            </a:r>
          </a:p>
        </p:txBody>
      </p:sp>
    </p:spTree>
    <p:extLst>
      <p:ext uri="{BB962C8B-B14F-4D97-AF65-F5344CB8AC3E}">
        <p14:creationId xmlns:p14="http://schemas.microsoft.com/office/powerpoint/2010/main" val="383284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8"/>
          <p:cNvSpPr txBox="1">
            <a:spLocks noGrp="1"/>
          </p:cNvSpPr>
          <p:nvPr>
            <p:ph type="title"/>
          </p:nvPr>
        </p:nvSpPr>
        <p:spPr>
          <a:noFill/>
          <a:ln>
            <a:noFill/>
          </a:ln>
        </p:spPr>
        <p:txBody>
          <a:bodyPr spcFirstLastPara="1" wrap="square" lIns="91425" tIns="91425" rIns="91425" bIns="91425" anchor="t" anchorCtr="0">
            <a:normAutofit/>
          </a:bodyPr>
          <a:lstStyle/>
          <a:p>
            <a:pPr lvl="0"/>
            <a:r>
              <a:rPr lang="en-US"/>
              <a:t>LOOPS</a:t>
            </a:r>
          </a:p>
        </p:txBody>
      </p:sp>
      <p:sp>
        <p:nvSpPr>
          <p:cNvPr id="2" name="Text Placeholder 1">
            <a:extLst>
              <a:ext uri="{FF2B5EF4-FFF2-40B4-BE49-F238E27FC236}">
                <a16:creationId xmlns:a16="http://schemas.microsoft.com/office/drawing/2014/main" id="{51B59AA5-0605-988D-3589-BF825B86F5B7}"/>
              </a:ext>
            </a:extLst>
          </p:cNvPr>
          <p:cNvSpPr>
            <a:spLocks noGrp="1"/>
          </p:cNvSpPr>
          <p:nvPr>
            <p:ph type="body" idx="1"/>
          </p:nvPr>
        </p:nvSpPr>
        <p:spPr/>
        <p:txBody>
          <a:bodyPr/>
          <a:lstStyle/>
          <a:p>
            <a:r>
              <a:rPr lang="en-US" dirty="0"/>
              <a:t>Fundamental control flow structures used to execute a block of code repeatedly</a:t>
            </a:r>
          </a:p>
          <a:p>
            <a:r>
              <a:rPr lang="en-US" dirty="0"/>
              <a:t>Two primary types of loops are “for” and “while” loops, which have distinct purposes</a:t>
            </a:r>
          </a:p>
          <a:p>
            <a:r>
              <a:rPr lang="en-US" dirty="0"/>
              <a:t>You can nest loops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0"/>
          <p:cNvSpPr txBox="1">
            <a:spLocks noGrp="1"/>
          </p:cNvSpPr>
          <p:nvPr>
            <p:ph type="title"/>
          </p:nvPr>
        </p:nvSpPr>
        <p:spPr>
          <a:noFill/>
          <a:ln>
            <a:noFill/>
          </a:ln>
        </p:spPr>
        <p:txBody>
          <a:bodyPr spcFirstLastPara="1" wrap="square" lIns="91425" tIns="91425" rIns="91425" bIns="91425" anchor="t" anchorCtr="0">
            <a:normAutofit/>
          </a:bodyPr>
          <a:lstStyle/>
          <a:p>
            <a:pPr lvl="0"/>
            <a:r>
              <a:rPr lang="en-US"/>
              <a:t>“FOR” LOOP</a:t>
            </a:r>
          </a:p>
        </p:txBody>
      </p:sp>
      <p:sp>
        <p:nvSpPr>
          <p:cNvPr id="442" name="Google Shape;442;p50"/>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For loops iterate over a sequence, such as a list, tuple, string, or range, or other </a:t>
            </a:r>
            <a:r>
              <a:rPr lang="en-US" dirty="0" err="1"/>
              <a:t>iterable</a:t>
            </a:r>
            <a:r>
              <a:rPr lang="en-US" dirty="0"/>
              <a:t> objects</a:t>
            </a:r>
          </a:p>
          <a:p>
            <a:pPr lvl="0"/>
            <a:r>
              <a:rPr lang="en-US" dirty="0"/>
              <a:t>A block of code is executed once for each item in the sequence</a:t>
            </a:r>
          </a:p>
          <a:p>
            <a:pPr lvl="0"/>
            <a:endParaRPr lang="en-US" dirty="0"/>
          </a:p>
          <a:p>
            <a:pPr lvl="0"/>
            <a:r>
              <a:rPr lang="en-US" dirty="0"/>
              <a:t>Syntax:</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for </a:t>
            </a:r>
            <a:r>
              <a:rPr lang="en-US" sz="1100" dirty="0" err="1">
                <a:latin typeface="Courier New" panose="02070309020205020404" pitchFamily="49" charset="0"/>
                <a:cs typeface="Courier New" panose="02070309020205020404" pitchFamily="49" charset="0"/>
                <a:sym typeface="Consolas"/>
              </a:rPr>
              <a:t>loop_variable</a:t>
            </a:r>
            <a:r>
              <a:rPr lang="en-US" sz="1100" dirty="0">
                <a:latin typeface="Courier New" panose="02070309020205020404" pitchFamily="49" charset="0"/>
                <a:cs typeface="Courier New" panose="02070309020205020404" pitchFamily="49" charset="0"/>
                <a:sym typeface="Consolas"/>
              </a:rPr>
              <a:t> in sequence:</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    # code</a:t>
            </a:r>
          </a:p>
          <a:p>
            <a:pPr lvl="0"/>
            <a:endParaRPr lang="en-US" dirty="0">
              <a:sym typeface="Consolas"/>
            </a:endParaRPr>
          </a:p>
          <a:p>
            <a:pPr lvl="0"/>
            <a:r>
              <a:rPr lang="en-US" dirty="0"/>
              <a:t>Example:</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fruits = ["apple", "banana", "cherry"]</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for fruit in fruits:</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    print(fruit)</a:t>
            </a:r>
          </a:p>
          <a:p>
            <a:pPr lvl="0"/>
            <a:endParaRPr lang="en-US" dirty="0">
              <a:sym typeface="Consolas"/>
            </a:endParaRP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9F6E-FA6F-7825-6BB0-6374B70CD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D182D-0497-CA2F-A64B-FDE4EF3CCDEF}"/>
              </a:ext>
            </a:extLst>
          </p:cNvPr>
          <p:cNvSpPr>
            <a:spLocks noGrp="1"/>
          </p:cNvSpPr>
          <p:nvPr>
            <p:ph type="title"/>
          </p:nvPr>
        </p:nvSpPr>
        <p:spPr/>
        <p:txBody>
          <a:bodyPr/>
          <a:lstStyle/>
          <a:p>
            <a:r>
              <a:rPr lang="en-US" dirty="0"/>
              <a:t>Instructor Led Examples</a:t>
            </a:r>
          </a:p>
        </p:txBody>
      </p:sp>
      <p:sp>
        <p:nvSpPr>
          <p:cNvPr id="3" name="Text Placeholder 2">
            <a:extLst>
              <a:ext uri="{FF2B5EF4-FFF2-40B4-BE49-F238E27FC236}">
                <a16:creationId xmlns:a16="http://schemas.microsoft.com/office/drawing/2014/main" id="{E293979C-1F2B-E19E-7092-18AB570CE59F}"/>
              </a:ext>
            </a:extLst>
          </p:cNvPr>
          <p:cNvSpPr>
            <a:spLocks noGrp="1"/>
          </p:cNvSpPr>
          <p:nvPr>
            <p:ph type="body" idx="1"/>
          </p:nvPr>
        </p:nvSpPr>
        <p:spPr>
          <a:xfrm>
            <a:off x="411479" y="1200149"/>
            <a:ext cx="7706609" cy="3429000"/>
          </a:xfrm>
        </p:spPr>
        <p:txBody>
          <a:bodyPr/>
          <a:lstStyle/>
          <a:p>
            <a:r>
              <a:rPr lang="en-US" dirty="0"/>
              <a:t>Use a for loop to print the numbers from 1 to 10</a:t>
            </a:r>
          </a:p>
          <a:p>
            <a:endParaRPr lang="en-US" dirty="0"/>
          </a:p>
          <a:p>
            <a:r>
              <a:rPr lang="en-US" dirty="0"/>
              <a:t>Create a list.  Add an item to the end of the list.  Use a for loop to print each item in the list.</a:t>
            </a:r>
          </a:p>
          <a:p>
            <a:pPr marL="114300" indent="0">
              <a:buNone/>
            </a:pPr>
            <a:endParaRPr lang="en-US" dirty="0"/>
          </a:p>
          <a:p>
            <a:r>
              <a:rPr lang="en-US" dirty="0"/>
              <a:t>Use a for loop to print all the even numbers between 20 and 50</a:t>
            </a:r>
          </a:p>
          <a:p>
            <a:endParaRPr lang="en-US" dirty="0"/>
          </a:p>
          <a:p>
            <a:r>
              <a:rPr lang="en-US" dirty="0"/>
              <a:t>Create the list [10, 20, 30, 40, 50].  Find the average value of the list using a for loop.</a:t>
            </a:r>
          </a:p>
          <a:p>
            <a:endParaRPr lang="en-US" dirty="0"/>
          </a:p>
          <a:p>
            <a:endParaRPr lang="en-US" dirty="0"/>
          </a:p>
        </p:txBody>
      </p:sp>
    </p:spTree>
    <p:extLst>
      <p:ext uri="{BB962C8B-B14F-4D97-AF65-F5344CB8AC3E}">
        <p14:creationId xmlns:p14="http://schemas.microsoft.com/office/powerpoint/2010/main" val="3512174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“WHILE” LOOP</a:t>
            </a:r>
          </a:p>
        </p:txBody>
      </p:sp>
      <p:sp>
        <p:nvSpPr>
          <p:cNvPr id="448" name="Google Shape;448;p51"/>
          <p:cNvSpPr txBox="1">
            <a:spLocks noGrp="1"/>
          </p:cNvSpPr>
          <p:nvPr>
            <p:ph type="body" idx="1"/>
          </p:nvPr>
        </p:nvSpPr>
        <p:spPr>
          <a:xfrm>
            <a:off x="411480" y="1200149"/>
            <a:ext cx="8338510" cy="3429000"/>
          </a:xfrm>
          <a:noFill/>
          <a:ln>
            <a:noFill/>
          </a:ln>
        </p:spPr>
        <p:txBody>
          <a:bodyPr spcFirstLastPara="1" wrap="square" lIns="91425" tIns="91425" rIns="91425" bIns="91425" anchor="t" anchorCtr="0">
            <a:normAutofit fontScale="92500" lnSpcReduction="10000"/>
          </a:bodyPr>
          <a:lstStyle/>
          <a:p>
            <a:pPr lvl="0"/>
            <a:r>
              <a:rPr lang="en-US" dirty="0"/>
              <a:t>While loops execute a block of statements repeatedly as long as a given condition is True</a:t>
            </a:r>
          </a:p>
          <a:p>
            <a:pPr lvl="0"/>
            <a:r>
              <a:rPr lang="en-US" dirty="0"/>
              <a:t>The loop continues to execute until the condition becomes false</a:t>
            </a:r>
          </a:p>
          <a:p>
            <a:pPr lvl="0"/>
            <a:r>
              <a:rPr lang="en-US" dirty="0"/>
              <a:t>What if we never update the variable that is being checked by our condition inside the body of our while loop?</a:t>
            </a:r>
          </a:p>
          <a:p>
            <a:pPr lvl="0"/>
            <a:endParaRPr lang="en-US" dirty="0"/>
          </a:p>
          <a:p>
            <a:pPr lvl="0"/>
            <a:r>
              <a:rPr lang="en-US" dirty="0"/>
              <a:t>Syntax:</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condition:</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 block of code</a:t>
            </a:r>
          </a:p>
          <a:p>
            <a:pPr lvl="0"/>
            <a:endParaRPr lang="en-US" dirty="0">
              <a:sym typeface="Consolas"/>
            </a:endParaRPr>
          </a:p>
          <a:p>
            <a:pPr lvl="0"/>
            <a:r>
              <a:rPr lang="en-US" dirty="0"/>
              <a:t>Example:</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count = 0</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count &lt; 5:</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print(count)</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count += 1</a:t>
            </a:r>
          </a:p>
          <a:p>
            <a:pPr lvl="0"/>
            <a:endParaRPr lang="en-US" dirty="0">
              <a:sym typeface="Consolas"/>
            </a:endParaRPr>
          </a:p>
          <a:p>
            <a:pPr lvl="0"/>
            <a:endParaRPr lang="en-US" dirty="0">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9A69B8-F9DB-9FB2-664B-08DF2646F2F6}"/>
              </a:ext>
            </a:extLst>
          </p:cNvPr>
          <p:cNvSpPr>
            <a:spLocks noGrp="1"/>
          </p:cNvSpPr>
          <p:nvPr>
            <p:ph type="title"/>
          </p:nvPr>
        </p:nvSpPr>
        <p:spPr/>
        <p:txBody>
          <a:bodyPr/>
          <a:lstStyle/>
          <a:p>
            <a:r>
              <a:rPr lang="en-US" dirty="0"/>
              <a:t>Instructor Led Examples</a:t>
            </a:r>
          </a:p>
        </p:txBody>
      </p:sp>
      <p:sp>
        <p:nvSpPr>
          <p:cNvPr id="6" name="Text Placeholder 5">
            <a:extLst>
              <a:ext uri="{FF2B5EF4-FFF2-40B4-BE49-F238E27FC236}">
                <a16:creationId xmlns:a16="http://schemas.microsoft.com/office/drawing/2014/main" id="{D8B39B41-6901-9C11-4B1A-8CEA53740EB0}"/>
              </a:ext>
            </a:extLst>
          </p:cNvPr>
          <p:cNvSpPr>
            <a:spLocks noGrp="1"/>
          </p:cNvSpPr>
          <p:nvPr>
            <p:ph type="body" idx="1"/>
          </p:nvPr>
        </p:nvSpPr>
        <p:spPr>
          <a:xfrm>
            <a:off x="411479" y="1200149"/>
            <a:ext cx="7810687" cy="3429000"/>
          </a:xfrm>
        </p:spPr>
        <p:txBody>
          <a:bodyPr/>
          <a:lstStyle/>
          <a:p>
            <a:r>
              <a:rPr lang="en-US" dirty="0"/>
              <a:t>Ask the user to input an even integer number.  If the user puts in an odd number, print “This is an odd number”, and then prompt the user for an even number.  Continue to do this until the user enters an even number.  </a:t>
            </a:r>
            <a:r>
              <a:rPr lang="en-US" b="1" dirty="0"/>
              <a:t>**Assume the user will always input an integer value**</a:t>
            </a:r>
          </a:p>
          <a:p>
            <a:endParaRPr lang="en-US" b="1" dirty="0"/>
          </a:p>
          <a:p>
            <a:r>
              <a:rPr lang="en-US" dirty="0"/>
              <a:t>Hard code a secret integer number between 1 and 100.  Ask the user to guess the integer.  If they are higher then the secret number, tell them they are higher.  If they are lower, tell them they are lower.  When they guess it correctly, congratulate them, and end the program.</a:t>
            </a:r>
          </a:p>
          <a:p>
            <a:pPr lvl="1"/>
            <a:r>
              <a:rPr lang="en-US" dirty="0"/>
              <a:t>Bonus:  Display how many times the user guessed until they got it correct after they get it correct.</a:t>
            </a:r>
          </a:p>
        </p:txBody>
      </p:sp>
    </p:spTree>
    <p:extLst>
      <p:ext uri="{BB962C8B-B14F-4D97-AF65-F5344CB8AC3E}">
        <p14:creationId xmlns:p14="http://schemas.microsoft.com/office/powerpoint/2010/main" val="1271590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2"/>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break</a:t>
            </a:r>
          </a:p>
          <a:p>
            <a:pPr lvl="1"/>
            <a:r>
              <a:rPr lang="en-US" dirty="0"/>
              <a:t>terminates the entire loop immediately, execution resumes at the statement following the loop’s body</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DFD39A3-49E2-DE84-AF27-796CAD979F25}"/>
              </a:ext>
            </a:extLst>
          </p:cNvPr>
          <p:cNvPicPr>
            <a:picLocks noChangeAspect="1"/>
          </p:cNvPicPr>
          <p:nvPr/>
        </p:nvPicPr>
        <p:blipFill>
          <a:blip r:embed="rId3"/>
          <a:stretch>
            <a:fillRect/>
          </a:stretch>
        </p:blipFill>
        <p:spPr>
          <a:xfrm>
            <a:off x="1264081" y="2571750"/>
            <a:ext cx="2705478" cy="1419423"/>
          </a:xfrm>
          <a:prstGeom prst="rect">
            <a:avLst/>
          </a:prstGeom>
        </p:spPr>
      </p:pic>
      <p:pic>
        <p:nvPicPr>
          <p:cNvPr id="5" name="Picture 4">
            <a:extLst>
              <a:ext uri="{FF2B5EF4-FFF2-40B4-BE49-F238E27FC236}">
                <a16:creationId xmlns:a16="http://schemas.microsoft.com/office/drawing/2014/main" id="{AEDF1CA5-1A8C-5383-D191-F552778718E2}"/>
              </a:ext>
            </a:extLst>
          </p:cNvPr>
          <p:cNvPicPr>
            <a:picLocks noChangeAspect="1"/>
          </p:cNvPicPr>
          <p:nvPr/>
        </p:nvPicPr>
        <p:blipFill>
          <a:blip r:embed="rId4"/>
          <a:srcRect l="-5268" r="46956"/>
          <a:stretch>
            <a:fillRect/>
          </a:stretch>
        </p:blipFill>
        <p:spPr>
          <a:xfrm>
            <a:off x="4822160" y="2592486"/>
            <a:ext cx="2518853" cy="14194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E3D36EAD-B411-F947-D151-5DDE60005A7C}"/>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5DACFBF1-7913-8309-7865-6132BBA6E626}"/>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D823F4C5-AAC0-96B1-31D0-2E8930890417}"/>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continue</a:t>
            </a:r>
          </a:p>
          <a:p>
            <a:pPr lvl="1"/>
            <a:r>
              <a:rPr lang="en-US" dirty="0"/>
              <a:t>skips the rest of the current iteration of the loop and proceeds to the next iteration of the loop</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172EFD2-4AD5-EEA6-5EC8-31C8276514EF}"/>
              </a:ext>
            </a:extLst>
          </p:cNvPr>
          <p:cNvPicPr>
            <a:picLocks noChangeAspect="1"/>
          </p:cNvPicPr>
          <p:nvPr/>
        </p:nvPicPr>
        <p:blipFill>
          <a:blip r:embed="rId3"/>
          <a:stretch>
            <a:fillRect/>
          </a:stretch>
        </p:blipFill>
        <p:spPr>
          <a:xfrm>
            <a:off x="1653328" y="2505559"/>
            <a:ext cx="2715004" cy="1381318"/>
          </a:xfrm>
          <a:prstGeom prst="rect">
            <a:avLst/>
          </a:prstGeom>
        </p:spPr>
      </p:pic>
      <p:pic>
        <p:nvPicPr>
          <p:cNvPr id="5" name="Picture 4">
            <a:extLst>
              <a:ext uri="{FF2B5EF4-FFF2-40B4-BE49-F238E27FC236}">
                <a16:creationId xmlns:a16="http://schemas.microsoft.com/office/drawing/2014/main" id="{6097C53F-01E5-356E-CE67-628C41E95F84}"/>
              </a:ext>
            </a:extLst>
          </p:cNvPr>
          <p:cNvPicPr>
            <a:picLocks noChangeAspect="1"/>
          </p:cNvPicPr>
          <p:nvPr/>
        </p:nvPicPr>
        <p:blipFill>
          <a:blip r:embed="rId4"/>
          <a:stretch>
            <a:fillRect/>
          </a:stretch>
        </p:blipFill>
        <p:spPr>
          <a:xfrm>
            <a:off x="5353318" y="1887760"/>
            <a:ext cx="3077004" cy="2991267"/>
          </a:xfrm>
          <a:prstGeom prst="rect">
            <a:avLst/>
          </a:prstGeom>
        </p:spPr>
      </p:pic>
    </p:spTree>
    <p:extLst>
      <p:ext uri="{BB962C8B-B14F-4D97-AF65-F5344CB8AC3E}">
        <p14:creationId xmlns:p14="http://schemas.microsoft.com/office/powerpoint/2010/main" val="92851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725DA112-21CE-F532-D951-E0900817DD7D}"/>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94D556E6-8DAC-0C3B-E0C8-7B9DD4A42DAD}"/>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E3243820-CEE5-9EA5-22B0-2437A8F10758}"/>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pass</a:t>
            </a:r>
          </a:p>
          <a:p>
            <a:pPr lvl="1"/>
            <a:r>
              <a:rPr lang="en-US" dirty="0"/>
              <a:t>null operation, used as a placeholder in loops or other code blocks where a statement is syntactically required but there is nothing to execute</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CDD25292-27E7-70AB-B007-23B2875E7C42}"/>
              </a:ext>
            </a:extLst>
          </p:cNvPr>
          <p:cNvPicPr>
            <a:picLocks noChangeAspect="1"/>
          </p:cNvPicPr>
          <p:nvPr/>
        </p:nvPicPr>
        <p:blipFill>
          <a:blip r:embed="rId3"/>
          <a:stretch>
            <a:fillRect/>
          </a:stretch>
        </p:blipFill>
        <p:spPr>
          <a:xfrm>
            <a:off x="2698827" y="2467672"/>
            <a:ext cx="3315163" cy="1171739"/>
          </a:xfrm>
          <a:prstGeom prst="rect">
            <a:avLst/>
          </a:prstGeom>
        </p:spPr>
      </p:pic>
    </p:spTree>
    <p:extLst>
      <p:ext uri="{BB962C8B-B14F-4D97-AF65-F5344CB8AC3E}">
        <p14:creationId xmlns:p14="http://schemas.microsoft.com/office/powerpoint/2010/main" val="7666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NESTED LOOPS</a:t>
            </a:r>
          </a:p>
        </p:txBody>
      </p:sp>
      <p:sp>
        <p:nvSpPr>
          <p:cNvPr id="460" name="Google Shape;460;p53"/>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Python allows loops inside other loops, called nested loops</a:t>
            </a:r>
          </a:p>
          <a:p>
            <a:pPr lvl="0"/>
            <a:r>
              <a:rPr lang="en-US" dirty="0"/>
              <a:t>The inner loop executes completely for each iteration of the outer loop</a:t>
            </a:r>
          </a:p>
          <a:p>
            <a:pPr lvl="0"/>
            <a:r>
              <a:rPr lang="en-US" dirty="0"/>
              <a:t>Example:</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for </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in range(3):</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for j in range(2):</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print(</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j)</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98B2-6D19-99AB-79E3-D6684DD94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3B53-DA45-32F6-ACB2-43C0AFE3F9BE}"/>
              </a:ext>
            </a:extLst>
          </p:cNvPr>
          <p:cNvSpPr>
            <a:spLocks noGrp="1"/>
          </p:cNvSpPr>
          <p:nvPr>
            <p:ph type="title"/>
          </p:nvPr>
        </p:nvSpPr>
        <p:spPr/>
        <p:txBody>
          <a:bodyPr/>
          <a:lstStyle/>
          <a:p>
            <a:r>
              <a:rPr lang="en-US" dirty="0"/>
              <a:t>Hands-On #2</a:t>
            </a:r>
          </a:p>
        </p:txBody>
      </p:sp>
      <p:sp>
        <p:nvSpPr>
          <p:cNvPr id="4" name="Text Placeholder 2">
            <a:extLst>
              <a:ext uri="{FF2B5EF4-FFF2-40B4-BE49-F238E27FC236}">
                <a16:creationId xmlns:a16="http://schemas.microsoft.com/office/drawing/2014/main" id="{85E349E0-C0D9-BD5C-C8E2-B67680ECB393}"/>
              </a:ext>
            </a:extLst>
          </p:cNvPr>
          <p:cNvSpPr>
            <a:spLocks noGrp="1"/>
          </p:cNvSpPr>
          <p:nvPr>
            <p:ph type="body" idx="1"/>
          </p:nvPr>
        </p:nvSpPr>
        <p:spPr>
          <a:xfrm>
            <a:off x="411480" y="1200149"/>
            <a:ext cx="5096352" cy="3429000"/>
          </a:xfrm>
        </p:spPr>
        <p:txBody>
          <a:bodyPr/>
          <a:lstStyle/>
          <a:p>
            <a:r>
              <a:rPr lang="en-US" dirty="0"/>
              <a:t>Take 30 minutes to work through Hands-On #2</a:t>
            </a:r>
          </a:p>
        </p:txBody>
      </p:sp>
    </p:spTree>
    <p:extLst>
      <p:ext uri="{BB962C8B-B14F-4D97-AF65-F5344CB8AC3E}">
        <p14:creationId xmlns:p14="http://schemas.microsoft.com/office/powerpoint/2010/main" val="1179001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07C9-1A41-F073-AC02-D1B040B56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68909-47B5-28B6-28B7-54290D26D49F}"/>
              </a:ext>
            </a:extLst>
          </p:cNvPr>
          <p:cNvSpPr>
            <a:spLocks noGrp="1"/>
          </p:cNvSpPr>
          <p:nvPr>
            <p:ph type="title"/>
          </p:nvPr>
        </p:nvSpPr>
        <p:spPr/>
        <p:txBody>
          <a:bodyPr/>
          <a:lstStyle/>
          <a:p>
            <a:r>
              <a:rPr lang="en-US"/>
              <a:t>Questions?</a:t>
            </a:r>
            <a:endParaRPr lang="en-US" dirty="0"/>
          </a:p>
        </p:txBody>
      </p:sp>
      <p:sp>
        <p:nvSpPr>
          <p:cNvPr id="3" name="Text Placeholder 2">
            <a:extLst>
              <a:ext uri="{FF2B5EF4-FFF2-40B4-BE49-F238E27FC236}">
                <a16:creationId xmlns:a16="http://schemas.microsoft.com/office/drawing/2014/main" id="{04030480-65E1-58E0-B1B4-5FF9DAE4EB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1216339"/>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1469</TotalTime>
  <Words>2189</Words>
  <Application>Microsoft Office PowerPoint</Application>
  <PresentationFormat>On-screen Show (16:9)</PresentationFormat>
  <Paragraphs>335</Paragraphs>
  <Slides>42</Slides>
  <Notes>27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Consolas</vt:lpstr>
      <vt:lpstr>Arial</vt:lpstr>
      <vt:lpstr>Roboto</vt:lpstr>
      <vt:lpstr>Courier New</vt:lpstr>
      <vt:lpstr>US Army 2023 AFC DEVCOM Logo</vt:lpstr>
      <vt:lpstr>CONDITIONAL STATEMENTS AND LOOPS</vt:lpstr>
      <vt:lpstr>The Gap by Ira Glass</vt:lpstr>
      <vt:lpstr>Quantity vs. Quality?</vt:lpstr>
      <vt:lpstr>Review:  What is a Boolean?</vt:lpstr>
      <vt:lpstr>Review:  What are some different datatypes in Python?</vt:lpstr>
      <vt:lpstr>Review:  How can we get information from a user of our program?</vt:lpstr>
      <vt:lpstr>Review:  What function allows us to display information in our terminal?</vt:lpstr>
      <vt:lpstr>Review:  What is type casting, and why is it important?</vt:lpstr>
      <vt:lpstr>How do our Python Scripts run…?</vt:lpstr>
      <vt:lpstr>CONDITIONAL STATEMENTS</vt:lpstr>
      <vt:lpstr>IN CLASS EXERCISE</vt:lpstr>
      <vt:lpstr>IN CLASS EXERCISE</vt:lpstr>
      <vt:lpstr>THE "IF" STATEMENT</vt:lpstr>
      <vt:lpstr>THE “ELSE” STATEMENT</vt:lpstr>
      <vt:lpstr>THE “ELIF” STATEMENT</vt:lpstr>
      <vt:lpstr>THE “ELIF” STATEMENT</vt:lpstr>
      <vt:lpstr>CONDITIONAL STATEMENTS (CONT.)</vt:lpstr>
      <vt:lpstr>NESTED CONDITIONAL STATEMENTS </vt:lpstr>
      <vt:lpstr>EXERCISE - CONDITIONAL STATEMENTS</vt:lpstr>
      <vt:lpstr>Hands-On #1</vt:lpstr>
      <vt:lpstr>Take a 5 minute break</vt:lpstr>
      <vt:lpstr>How do our Python Scripts run…?</vt:lpstr>
      <vt:lpstr>LOOPS!!!</vt:lpstr>
      <vt:lpstr>But first, a new datatype!</vt:lpstr>
      <vt:lpstr>The List [ ]</vt:lpstr>
      <vt:lpstr>List Indexing</vt:lpstr>
      <vt:lpstr>List Methods</vt:lpstr>
      <vt:lpstr>RANGE() FUNCTION </vt:lpstr>
      <vt:lpstr>RANGE() FUNCTION </vt:lpstr>
      <vt:lpstr>RANGE() FUNCTION </vt:lpstr>
      <vt:lpstr>RANGE() FUNCTION </vt:lpstr>
      <vt:lpstr>LOOPS</vt:lpstr>
      <vt:lpstr>“FOR” LOOP</vt:lpstr>
      <vt:lpstr>Instructor Led Examples</vt:lpstr>
      <vt:lpstr>“WHILE” LOOP</vt:lpstr>
      <vt:lpstr>Instructor Led Examples</vt:lpstr>
      <vt:lpstr>LOOP CONTROL STATEMENTS</vt:lpstr>
      <vt:lpstr>LOOP CONTROL STATEMENTS</vt:lpstr>
      <vt:lpstr>LOOP CONTROL STATEMENTS</vt:lpstr>
      <vt:lpstr>NESTED LOOPS</vt:lpstr>
      <vt:lpstr>Hands-On #2</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28</cp:revision>
  <dcterms:modified xsi:type="dcterms:W3CDTF">2026-06-02T19:07:27Z</dcterms:modified>
</cp:coreProperties>
</file>